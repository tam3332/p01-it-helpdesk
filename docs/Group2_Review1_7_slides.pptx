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836f612b804c5b" /><Relationship Type="http://schemas.openxmlformats.org/officeDocument/2006/relationships/extended-properties" Target="/docProps/app.xml" Id="R9720b412660f49b1" /><Relationship Type="http://schemas.openxmlformats.org/officeDocument/2006/relationships/officeDocument" Target="/ppt/presentation.xml" Id="R398349a133694380" /></Relationships>
</file>

<file path=ppt/presentation.xml><?xml version="1.0" encoding="utf-8"?>
<p:presentation xmlns:p="http://schemas.openxmlformats.org/presentationml/2006/main">
  <p:sldMasterIdLst>
    <p:sldMasterId xmlns:r="http://schemas.openxmlformats.org/officeDocument/2006/relationships" id="2147483648" r:id="Rcd4ce1bc54ed4cee"/>
  </p:sldMasterIdLst>
  <p:notesMasterIdLst>
    <p:notesMasterId xmlns:r="http://schemas.openxmlformats.org/officeDocument/2006/relationships" r:id="Rf516b042f9434c73"/>
  </p:notesMasterIdLst>
  <p:sldIdLst>
    <p:sldId xmlns:r="http://schemas.openxmlformats.org/officeDocument/2006/relationships" id="256" r:id="R88c5a7a25c004732"/>
    <p:sldId xmlns:r="http://schemas.openxmlformats.org/officeDocument/2006/relationships" id="257" r:id="Rdeecd2c55acf487b"/>
    <p:sldId xmlns:r="http://schemas.openxmlformats.org/officeDocument/2006/relationships" id="258" r:id="R972e7001e09d461a"/>
    <p:sldId xmlns:r="http://schemas.openxmlformats.org/officeDocument/2006/relationships" id="259" r:id="Raf3d9de7982f4810"/>
    <p:sldId xmlns:r="http://schemas.openxmlformats.org/officeDocument/2006/relationships" id="260" r:id="Rb92f0c30d4064dde"/>
    <p:sldId xmlns:r="http://schemas.openxmlformats.org/officeDocument/2006/relationships" id="261" r:id="Rc5b32545467344c4"/>
    <p:sldId xmlns:r="http://schemas.openxmlformats.org/officeDocument/2006/relationships" id="262" r:id="R953d6384201243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1720200e11436b" /><Relationship Type="http://schemas.openxmlformats.org/officeDocument/2006/relationships/slideMaster" Target="/ppt/slideMasters/slideMaster1.xml" Id="Rcd4ce1bc54ed4cee" /><Relationship Type="http://schemas.openxmlformats.org/officeDocument/2006/relationships/notesMaster" Target="/ppt/notesMasters/notesMaster1.xml" Id="Rf516b042f9434c73" /><Relationship Type="http://schemas.openxmlformats.org/officeDocument/2006/relationships/presProps" Target="/ppt/presProps.xml" Id="R65a9e5aee4b24052" /><Relationship Type="http://schemas.openxmlformats.org/officeDocument/2006/relationships/tableStyles" Target="/ppt/tableStyles.xml" Id="Rd6ce14c379414cac" /><Relationship Type="http://schemas.openxmlformats.org/officeDocument/2006/relationships/slide" Target="/ppt/slides/slide1.xml" Id="R88c5a7a25c004732" /><Relationship Type="http://schemas.openxmlformats.org/officeDocument/2006/relationships/slide" Target="/ppt/slides/slide2.xml" Id="Rdeecd2c55acf487b" /><Relationship Type="http://schemas.openxmlformats.org/officeDocument/2006/relationships/slide" Target="/ppt/slides/slide3.xml" Id="R972e7001e09d461a" /><Relationship Type="http://schemas.openxmlformats.org/officeDocument/2006/relationships/slide" Target="/ppt/slides/slide4.xml" Id="Raf3d9de7982f4810" /><Relationship Type="http://schemas.openxmlformats.org/officeDocument/2006/relationships/slide" Target="/ppt/slides/slide5.xml" Id="Rb92f0c30d4064dde" /><Relationship Type="http://schemas.openxmlformats.org/officeDocument/2006/relationships/slide" Target="/ppt/slides/slide6.xml" Id="Rc5b32545467344c4" /><Relationship Type="http://schemas.openxmlformats.org/officeDocument/2006/relationships/slide" Target="/ppt/slides/slide7.xml" Id="R953d6384201243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1016bd663847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061fd904a14ec0" /><Relationship Type="http://schemas.openxmlformats.org/officeDocument/2006/relationships/notesMaster" Target="/ppt/notesMasters/notesMaster1.xml" Id="Rbc6e968730b145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9e90f23a484eee" /><Relationship Type="http://schemas.openxmlformats.org/officeDocument/2006/relationships/notesMaster" Target="/ppt/notesMasters/notesMaster1.xml" Id="R6486f6968dd046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1e511887244e56" /><Relationship Type="http://schemas.openxmlformats.org/officeDocument/2006/relationships/notesMaster" Target="/ppt/notesMasters/notesMaster1.xml" Id="R9c466f13a6de45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1bf361feab4bc9" /><Relationship Type="http://schemas.openxmlformats.org/officeDocument/2006/relationships/notesMaster" Target="/ppt/notesMasters/notesMaster1.xml" Id="R5cd195fbf6104a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13b48002e54a8f" /><Relationship Type="http://schemas.openxmlformats.org/officeDocument/2006/relationships/notesMaster" Target="/ppt/notesMasters/notesMaster1.xml" Id="Rbd3f975fa86a40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294851e8154c6d" /><Relationship Type="http://schemas.openxmlformats.org/officeDocument/2006/relationships/notesMaster" Target="/ppt/notesMasters/notesMaster1.xml" Id="R164418ade73b4c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8252dc9b25487b" /><Relationship Type="http://schemas.openxmlformats.org/officeDocument/2006/relationships/notesMaster" Target="/ppt/notesMasters/notesMaster1.xml" Id="R40c3fdaf20bb48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điều phối đề xuất: Nguyễn Trọng Khiêm. Đây là hồ sơ trước Review 1, chưa có xác nhận GV hoặc kết quả SEC-TC. Không đọc như báo cáo nghiệm thu. Nguồn: https://docs.google.com/document/d/1tYsp1Omfkrt7lsZ0VuTwTnsHArhhEbWn/edit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GV xác nhận phạm vi MVP và ưu tiên. Dashboard theo quyền; không có dashboard nghiệp vụ cho Employee trong SRS. Nguồn: SRS §1–4, HD01–HD15: https://docs.google.com/document/d/1iGDgs5MjEbOUycZbdVMG-zL4vRov60f5/edit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tóm tắt theo Use Case, không thay hình BPMN chi tiết. SRS HD07 còn Reopened về Assigned, matrix có Reopened về In Progress; SDD §2 còn REOPEN_PENDING. Cần tách state ticket với status request, không tự coi đã chốt. Nguồn SRS §3/UC-06…09 https://docs.google.com/document/d/1iGDgs5MjEbOUycZbdVMG-zL4vRov60f5/edit; SDD §2/4 https://docs.google.com/document/d/1Wj4q4_IUBI4LX74SAq-ScLbN66R9EYP68d5IKZJEBuY/edit; SecRS PC-02 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rút gọn từ DFD v0.2, không mô tả toàn bộ phản hồi F1R/F2R hay topology Docker. Ba ranh giới tin cậy là logical. Backend khóa login, Monitoring không khóa tài khoản. Byte file ở D2, metadata/blacklist token trong D1. Nguồn: SecRS §3.1–3.2 https://docs.google.com/document/d/178ulBVk9rQASXX3_5tPjoc1DTZG4iGUeREI69dD-xMw/edit; SDD §1/3/7/ADR-01…03 https://docs.google.com/document/d/1Wj4q4_IUBI4LX74SAq-ScLbN66R9EYP68d5IKZJEBuY/edit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SR: IA-HD01 Auth/RBAC; IA-HD02 object-level/DTO; IA-HD03 file; IA-HD04 audit; IA-HD05 detection; IA-HD06 đánh giá; IA-HD07 hardening. Tất cả case/evidence hiện là kế hoạch, không ghi PASS. Kiểm thử chủ động phải có scope và kế hoạch được duyệt. Nguồn SecRS §3.3/4/6/8 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 là ticket do Employee tạo; Assigned là Staff phụ trách. Khi ticket ngoài phạm vi xem, trả 404 trước kiểm hành động. New queue chỉ xem theo matrix. Admin xem metadata nhưng tải byte hiện Deny; SDD All Roles Scoped chưa đồng bộ. Manager PATCH status hiện matrix Deny, SDD cho phép, không coi đã chốt. Nguồn SecRS §5/PC-03 https://docs.google.com/document/d/178ulBVk9rQASXX3_5tPjoc1DTZG4iGUeREI69dD-xMw/edit; SDD §4/6 https://docs.google.com/document/d/1Wj4q4_IUBI4LX74SAq-ScLbN66R9EYP68d5IKZJEBuY/edit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Ngoài PC-01…06, SDD §5 screen flow/SCR ID do Chính, link OpenAPI do Cường và deployment do Nhi cần bổ sung theo phân công. Khiêm chuẩn bị hồ sơ và điều phối, không tự ký duyệt thay GV. Nguồn: SecRS §3.4 https://docs.google.com/document/d/178ulBVk9rQASXX3_5tPjoc1DTZG4iGUeREI69dD-xMw/edit; 08 §4–5 https://docs.google.com/document/d/1tYsp1Omfkrt7lsZ0VuTwTnsHArhhEbWn/edit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df1eae8cef47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108d05b07b74f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97d67b52de4b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d2e2c8a7e941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054a75bf1a47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23a0b23fa849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74BDB0-6239-465F-B099-81CED4BB96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1161D0-DC7B-4D40-A2A7-E0676DFC3C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2BD51E-3E70-4E9A-B735-77B523E6B6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6899A8-63EC-4B88-96FC-2C8361489E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1FBFE7-1E24-4404-8093-E48488030D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830FA0-F687-4692-AA38-6701CDE4B4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A7FC9B-8460-43D9-95E2-635B28F544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73303C-39C6-495A-B362-C552616EDD5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3E064-D087-434F-9352-A2A8AA675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F56D56-9300-457F-AC57-DDFCC06188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35f48cce54e04" /><Relationship Type="http://schemas.openxmlformats.org/officeDocument/2006/relationships/slideLayout" Target="/ppt/slideLayouts/slideLayout1.xml" Id="Rd542e46cae264631" /><Relationship Type="http://schemas.openxmlformats.org/officeDocument/2006/relationships/slideLayout" Target="/ppt/slideLayouts/slideLayout2.xml" Id="R24468b51033e4f27" /><Relationship Type="http://schemas.openxmlformats.org/officeDocument/2006/relationships/slideLayout" Target="/ppt/slideLayouts/slideLayout3.xml" Id="R5829d17f0b30413b" /><Relationship Type="http://schemas.openxmlformats.org/officeDocument/2006/relationships/slideLayout" Target="/ppt/slideLayouts/slideLayout4.xml" Id="Ra61b886c032945d3" /><Relationship Type="http://schemas.openxmlformats.org/officeDocument/2006/relationships/slideLayout" Target="/ppt/slideLayouts/slideLayout5.xml" Id="Rfb15af81e4d24c1b" /><Relationship Type="http://schemas.openxmlformats.org/officeDocument/2006/relationships/slideLayout" Target="/ppt/slideLayouts/slideLayout6.xml" Id="Rc0655b1fa3c440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42e46cae264631"/>
    <p:sldLayoutId xmlns:r="http://schemas.openxmlformats.org/officeDocument/2006/relationships" id="2147483650" r:id="R24468b51033e4f27"/>
    <p:sldLayoutId xmlns:r="http://schemas.openxmlformats.org/officeDocument/2006/relationships" id="2147483651" r:id="R5829d17f0b30413b"/>
    <p:sldLayoutId xmlns:r="http://schemas.openxmlformats.org/officeDocument/2006/relationships" id="2147483652" r:id="Ra61b886c032945d3"/>
    <p:sldLayoutId xmlns:r="http://schemas.openxmlformats.org/officeDocument/2006/relationships" id="2147483653" r:id="Rfb15af81e4d24c1b"/>
    <p:sldLayoutId xmlns:r="http://schemas.openxmlformats.org/officeDocument/2006/relationships" id="2147483654" r:id="Rc0655b1fa3c440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9f75c2acff45cb" /><Relationship Type="http://schemas.openxmlformats.org/officeDocument/2006/relationships/notesSlide" Target="/ppt/notesSlides/notesSlide1.xml" Id="Rf7a77ee5685e4a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2769db2afe4757" /><Relationship Type="http://schemas.openxmlformats.org/officeDocument/2006/relationships/notesSlide" Target="/ppt/notesSlides/notesSlide2.xml" Id="R6a51b0477f6747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8457fcf9534594" /><Relationship Type="http://schemas.openxmlformats.org/officeDocument/2006/relationships/notesSlide" Target="/ppt/notesSlides/notesSlide3.xml" Id="Rb5088a4f991149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4780280e004fd1" /><Relationship Type="http://schemas.openxmlformats.org/officeDocument/2006/relationships/notesSlide" Target="/ppt/notesSlides/notesSlide4.xml" Id="Raf8baeea958848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b1246825d84740" /><Relationship Type="http://schemas.openxmlformats.org/officeDocument/2006/relationships/notesSlide" Target="/ppt/notesSlides/notesSlide5.xml" Id="Rb8ed6f27ec624a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2f1f4544874eac" /><Relationship Type="http://schemas.openxmlformats.org/officeDocument/2006/relationships/notesSlide" Target="/ppt/notesSlides/notesSlide6.xml" Id="R2913f47719d34f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d49751129474133" /><Relationship Type="http://schemas.openxmlformats.org/officeDocument/2006/relationships/notesSlide" Target="/ppt/notesSlides/notesSlide7.xml" Id="Rba82814379f64e1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1981C4-D1F0-4D72-B35F-CDE7779574C3}"/>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Review 1</a:t>
            </a:r>
          </a:p>
        </p:txBody>
      </p:sp>
      <p:sp>
        <p:nvSpPr>
          <p:cNvPr id="3" name="">
            <a:extLst xmlns:a="http://schemas.openxmlformats.org/drawingml/2006/main">
              <a:ext uri="{FF2B5EF4-FFF2-40B4-BE49-F238E27FC236}">
                <a16:creationId xmlns:a16="http://schemas.microsoft.com/office/drawing/2014/main" id="{D72083A8-26C8-4D33-A9AC-8A847B35922B}"/>
              </a:ext>
            </a:extLst>
          </p:cNvPr>
          <p:cNvSpPr>
            <a:spLocks xmlns:a="http://schemas.openxmlformats.org/drawingml/2006/main" noGrp="1"/>
          </p:cNvSpPr>
          <p:nvPr/>
        </p:nvSpPr>
        <p:spPr>
          <a:xfrm xmlns:a="http://schemas.openxmlformats.org/drawingml/2006/main">
            <a:off x="552450" y="1504950"/>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73A5E"/>
                </a:solidFill>
                <a:latin typeface="Arial"/>
                <a:ea typeface="Arial"/>
                <a:cs typeface="Arial"/>
              </a:defRPr>
            </a:defPPr>
            <a:lvl1pPr>
              <a:defRPr sz="4950" b="1">
                <a:solidFill>
                  <a:srgbClr val="173A5E"/>
                </a:solidFill>
                <a:latin typeface="Arial"/>
                <a:ea typeface="Arial"/>
                <a:cs typeface="Arial"/>
              </a:defRPr>
            </a:lvl1pPr>
            <a:lvl2pPr>
              <a:defRPr sz="4950" b="1">
                <a:solidFill>
                  <a:srgbClr val="173A5E"/>
                </a:solidFill>
                <a:latin typeface="Arial"/>
                <a:ea typeface="Arial"/>
                <a:cs typeface="Arial"/>
              </a:defRPr>
            </a:lvl2pPr>
            <a:lvl3pPr>
              <a:defRPr sz="4950" b="1">
                <a:solidFill>
                  <a:srgbClr val="173A5E"/>
                </a:solidFill>
                <a:latin typeface="Arial"/>
                <a:ea typeface="Arial"/>
                <a:cs typeface="Arial"/>
              </a:defRPr>
            </a:lvl3pPr>
            <a:lvl4pPr>
              <a:defRPr sz="4950" b="1">
                <a:solidFill>
                  <a:srgbClr val="173A5E"/>
                </a:solidFill>
                <a:latin typeface="Arial"/>
                <a:ea typeface="Arial"/>
                <a:cs typeface="Arial"/>
              </a:defRPr>
            </a:lvl4pPr>
            <a:lvl5pPr>
              <a:defRPr sz="4950" b="1">
                <a:solidFill>
                  <a:srgbClr val="173A5E"/>
                </a:solidFill>
                <a:latin typeface="Arial"/>
                <a:ea typeface="Arial"/>
                <a:cs typeface="Arial"/>
              </a:defRPr>
            </a:lvl5pPr>
            <a:lvl6pPr>
              <a:defRPr sz="4950" b="1">
                <a:solidFill>
                  <a:srgbClr val="173A5E"/>
                </a:solidFill>
                <a:latin typeface="Arial"/>
                <a:ea typeface="Arial"/>
                <a:cs typeface="Arial"/>
              </a:defRPr>
            </a:lvl6pPr>
            <a:lvl7pPr>
              <a:defRPr sz="4950" b="1">
                <a:solidFill>
                  <a:srgbClr val="173A5E"/>
                </a:solidFill>
                <a:latin typeface="Arial"/>
                <a:ea typeface="Arial"/>
                <a:cs typeface="Arial"/>
              </a:defRPr>
            </a:lvl7pPr>
            <a:lvl8pPr>
              <a:defRPr sz="4950" b="1">
                <a:solidFill>
                  <a:srgbClr val="173A5E"/>
                </a:solidFill>
                <a:latin typeface="Arial"/>
                <a:ea typeface="Arial"/>
                <a:cs typeface="Arial"/>
              </a:defRPr>
            </a:lvl8pPr>
            <a:lvl9pPr>
              <a:defRPr sz="4950" b="1">
                <a:solidFill>
                  <a:srgbClr val="173A5E"/>
                </a:solidFill>
                <a:latin typeface="Arial"/>
                <a:ea typeface="Arial"/>
                <a:cs typeface="Arial"/>
              </a:defRPr>
            </a:lvl9pPr>
          </a:lstStyle>
          <a:p xmlns:a="http://schemas.openxmlformats.org/drawingml/2006/main">
            <a:pPr>
              <a:defRPr sz="4950" b="1">
                <a:solidFill>
                  <a:srgbClr val="173A5E"/>
                </a:solidFill>
                <a:latin typeface="Arial"/>
                <a:ea typeface="Arial"/>
                <a:cs typeface="Arial"/>
              </a:defRPr>
            </a:pPr>
            <a:r>
              <a:rPr sz="4950" b="1">
                <a:solidFill>
                  <a:srgbClr val="173A5E"/>
                </a:solidFill>
                <a:latin typeface="Arial"/>
                <a:ea typeface="Arial"/>
                <a:cs typeface="Arial"/>
              </a:rPr>
              <a:t>P01 IT Helpdesk</a:t>
            </a:r>
          </a:p>
        </p:txBody>
      </p:sp>
      <p:sp>
        <p:nvSpPr>
          <p:cNvPr id="4" name="">
            <a:extLst xmlns:a="http://schemas.openxmlformats.org/drawingml/2006/main">
              <a:ext uri="{FF2B5EF4-FFF2-40B4-BE49-F238E27FC236}">
                <a16:creationId xmlns:a16="http://schemas.microsoft.com/office/drawing/2014/main" id="{73BDBC1F-5A96-437A-AF71-F015D7CFE3BE}"/>
              </a:ext>
            </a:extLst>
          </p:cNvPr>
          <p:cNvSpPr>
            <a:spLocks xmlns:a="http://schemas.openxmlformats.org/drawingml/2006/main" noGrp="1"/>
          </p:cNvSpPr>
          <p:nvPr/>
        </p:nvSpPr>
        <p:spPr>
          <a:xfrm xmlns:a="http://schemas.openxmlformats.org/drawingml/2006/main">
            <a:off x="571500" y="2524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087F8C"/>
                </a:solidFill>
                <a:latin typeface="Arial"/>
                <a:ea typeface="Arial"/>
                <a:cs typeface="Arial"/>
              </a:defRPr>
            </a:defPPr>
            <a:lvl1pPr>
              <a:defRPr sz="2700" b="0">
                <a:solidFill>
                  <a:srgbClr val="087F8C"/>
                </a:solidFill>
                <a:latin typeface="Arial"/>
                <a:ea typeface="Arial"/>
                <a:cs typeface="Arial"/>
              </a:defRPr>
            </a:lvl1pPr>
            <a:lvl2pPr>
              <a:defRPr sz="2700" b="0">
                <a:solidFill>
                  <a:srgbClr val="087F8C"/>
                </a:solidFill>
                <a:latin typeface="Arial"/>
                <a:ea typeface="Arial"/>
                <a:cs typeface="Arial"/>
              </a:defRPr>
            </a:lvl2pPr>
            <a:lvl3pPr>
              <a:defRPr sz="2700" b="0">
                <a:solidFill>
                  <a:srgbClr val="087F8C"/>
                </a:solidFill>
                <a:latin typeface="Arial"/>
                <a:ea typeface="Arial"/>
                <a:cs typeface="Arial"/>
              </a:defRPr>
            </a:lvl3pPr>
            <a:lvl4pPr>
              <a:defRPr sz="2700" b="0">
                <a:solidFill>
                  <a:srgbClr val="087F8C"/>
                </a:solidFill>
                <a:latin typeface="Arial"/>
                <a:ea typeface="Arial"/>
                <a:cs typeface="Arial"/>
              </a:defRPr>
            </a:lvl4pPr>
            <a:lvl5pPr>
              <a:defRPr sz="2700" b="0">
                <a:solidFill>
                  <a:srgbClr val="087F8C"/>
                </a:solidFill>
                <a:latin typeface="Arial"/>
                <a:ea typeface="Arial"/>
                <a:cs typeface="Arial"/>
              </a:defRPr>
            </a:lvl5pPr>
            <a:lvl6pPr>
              <a:defRPr sz="2700" b="0">
                <a:solidFill>
                  <a:srgbClr val="087F8C"/>
                </a:solidFill>
                <a:latin typeface="Arial"/>
                <a:ea typeface="Arial"/>
                <a:cs typeface="Arial"/>
              </a:defRPr>
            </a:lvl6pPr>
            <a:lvl7pPr>
              <a:defRPr sz="2700" b="0">
                <a:solidFill>
                  <a:srgbClr val="087F8C"/>
                </a:solidFill>
                <a:latin typeface="Arial"/>
                <a:ea typeface="Arial"/>
                <a:cs typeface="Arial"/>
              </a:defRPr>
            </a:lvl7pPr>
            <a:lvl8pPr>
              <a:defRPr sz="2700" b="0">
                <a:solidFill>
                  <a:srgbClr val="087F8C"/>
                </a:solidFill>
                <a:latin typeface="Arial"/>
                <a:ea typeface="Arial"/>
                <a:cs typeface="Arial"/>
              </a:defRPr>
            </a:lvl8pPr>
            <a:lvl9pPr>
              <a:defRPr sz="2700" b="0">
                <a:solidFill>
                  <a:srgbClr val="087F8C"/>
                </a:solidFill>
                <a:latin typeface="Arial"/>
                <a:ea typeface="Arial"/>
                <a:cs typeface="Arial"/>
              </a:defRPr>
            </a:lvl9pPr>
          </a:lstStyle>
          <a:p xmlns:a="http://schemas.openxmlformats.org/drawingml/2006/main">
            <a:pPr>
              <a:defRPr sz="2700" b="0">
                <a:solidFill>
                  <a:srgbClr val="087F8C"/>
                </a:solidFill>
                <a:latin typeface="Arial"/>
                <a:ea typeface="Arial"/>
                <a:cs typeface="Arial"/>
              </a:defRPr>
            </a:pPr>
            <a:r>
              <a:rPr sz="2700" b="0">
                <a:solidFill>
                  <a:srgbClr val="087F8C"/>
                </a:solidFill>
                <a:latin typeface="Arial"/>
                <a:ea typeface="Arial"/>
                <a:cs typeface="Arial"/>
              </a:rPr>
              <a:t>Kiểm soát truy cập và giám sát bảo mật</a:t>
            </a:r>
          </a:p>
        </p:txBody>
      </p:sp>
      <p:sp>
        <p:nvSpPr>
          <p:cNvPr id="5" name="">
            <a:extLst xmlns:a="http://schemas.openxmlformats.org/drawingml/2006/main">
              <a:ext uri="{FF2B5EF4-FFF2-40B4-BE49-F238E27FC236}">
                <a16:creationId xmlns:a16="http://schemas.microsoft.com/office/drawing/2014/main" id="{4F97EFD4-672B-4BA0-BB50-1EC2455EE72B}"/>
              </a:ext>
            </a:extLst>
          </p:cNvPr>
          <p:cNvSpPr>
            <a:spLocks xmlns:a="http://schemas.openxmlformats.org/drawingml/2006/main" noGrp="1"/>
          </p:cNvSpPr>
          <p:nvPr/>
        </p:nvSpPr>
        <p:spPr>
          <a:xfrm xmlns:a="http://schemas.openxmlformats.org/drawingml/2006/main">
            <a:off x="571500" y="3714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2C40"/>
                </a:solidFill>
                <a:latin typeface="Arial"/>
                <a:ea typeface="Arial"/>
                <a:cs typeface="Arial"/>
              </a:defRPr>
            </a:defPPr>
            <a:lvl1pPr>
              <a:defRPr sz="2400" b="1">
                <a:solidFill>
                  <a:srgbClr val="182C40"/>
                </a:solidFill>
                <a:latin typeface="Arial"/>
                <a:ea typeface="Arial"/>
                <a:cs typeface="Arial"/>
              </a:defRPr>
            </a:lvl1pPr>
            <a:lvl2pPr>
              <a:defRPr sz="2400" b="1">
                <a:solidFill>
                  <a:srgbClr val="182C40"/>
                </a:solidFill>
                <a:latin typeface="Arial"/>
                <a:ea typeface="Arial"/>
                <a:cs typeface="Arial"/>
              </a:defRPr>
            </a:lvl2pPr>
            <a:lvl3pPr>
              <a:defRPr sz="2400" b="1">
                <a:solidFill>
                  <a:srgbClr val="182C40"/>
                </a:solidFill>
                <a:latin typeface="Arial"/>
                <a:ea typeface="Arial"/>
                <a:cs typeface="Arial"/>
              </a:defRPr>
            </a:lvl3pPr>
            <a:lvl4pPr>
              <a:defRPr sz="2400" b="1">
                <a:solidFill>
                  <a:srgbClr val="182C40"/>
                </a:solidFill>
                <a:latin typeface="Arial"/>
                <a:ea typeface="Arial"/>
                <a:cs typeface="Arial"/>
              </a:defRPr>
            </a:lvl4pPr>
            <a:lvl5pPr>
              <a:defRPr sz="2400" b="1">
                <a:solidFill>
                  <a:srgbClr val="182C40"/>
                </a:solidFill>
                <a:latin typeface="Arial"/>
                <a:ea typeface="Arial"/>
                <a:cs typeface="Arial"/>
              </a:defRPr>
            </a:lvl5pPr>
            <a:lvl6pPr>
              <a:defRPr sz="2400" b="1">
                <a:solidFill>
                  <a:srgbClr val="182C40"/>
                </a:solidFill>
                <a:latin typeface="Arial"/>
                <a:ea typeface="Arial"/>
                <a:cs typeface="Arial"/>
              </a:defRPr>
            </a:lvl6pPr>
            <a:lvl7pPr>
              <a:defRPr sz="2400" b="1">
                <a:solidFill>
                  <a:srgbClr val="182C40"/>
                </a:solidFill>
                <a:latin typeface="Arial"/>
                <a:ea typeface="Arial"/>
                <a:cs typeface="Arial"/>
              </a:defRPr>
            </a:lvl7pPr>
            <a:lvl8pPr>
              <a:defRPr sz="2400" b="1">
                <a:solidFill>
                  <a:srgbClr val="182C40"/>
                </a:solidFill>
                <a:latin typeface="Arial"/>
                <a:ea typeface="Arial"/>
                <a:cs typeface="Arial"/>
              </a:defRPr>
            </a:lvl8pPr>
            <a:lvl9pPr>
              <a:defRPr sz="2400" b="1">
                <a:solidFill>
                  <a:srgbClr val="182C40"/>
                </a:solidFill>
                <a:latin typeface="Arial"/>
                <a:ea typeface="Arial"/>
                <a:cs typeface="Arial"/>
              </a:defRPr>
            </a:lvl9pPr>
          </a:lstStyle>
          <a:p xmlns:a="http://schemas.openxmlformats.org/drawingml/2006/main">
            <a:pPr>
              <a:defRPr sz="2400" b="1">
                <a:solidFill>
                  <a:srgbClr val="182C40"/>
                </a:solidFill>
                <a:latin typeface="Arial"/>
                <a:ea typeface="Arial"/>
                <a:cs typeface="Arial"/>
              </a:defRPr>
            </a:pPr>
            <a:r>
              <a:rPr sz="2400" b="1">
                <a:solidFill>
                  <a:srgbClr val="182C40"/>
                </a:solidFill>
                <a:latin typeface="Arial"/>
                <a:ea typeface="Arial"/>
                <a:cs typeface="Arial"/>
              </a:rPr>
              <a:t>Group2</a:t>
            </a:r>
          </a:p>
        </p:txBody>
      </p:sp>
      <p:sp>
        <p:nvSpPr>
          <p:cNvPr id="6" name="">
            <a:extLst xmlns:a="http://schemas.openxmlformats.org/drawingml/2006/main">
              <a:ext uri="{FF2B5EF4-FFF2-40B4-BE49-F238E27FC236}">
                <a16:creationId xmlns:a16="http://schemas.microsoft.com/office/drawing/2014/main" id="{F6AFEEAD-8ECC-4E4E-94E9-CA25E165B814}"/>
              </a:ext>
            </a:extLst>
          </p:cNvPr>
          <p:cNvSpPr>
            <a:spLocks xmlns:a="http://schemas.openxmlformats.org/drawingml/2006/main" noGrp="1"/>
          </p:cNvSpPr>
          <p:nvPr/>
        </p:nvSpPr>
        <p:spPr>
          <a:xfrm xmlns:a="http://schemas.openxmlformats.org/drawingml/2006/main">
            <a:off x="571500" y="4333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C40"/>
                </a:solidFill>
                <a:latin typeface="Arial"/>
                <a:ea typeface="Arial"/>
                <a:cs typeface="Arial"/>
              </a:defRPr>
            </a:defPPr>
            <a:lvl1pPr>
              <a:defRPr sz="2175" b="0">
                <a:solidFill>
                  <a:srgbClr val="182C40"/>
                </a:solidFill>
                <a:latin typeface="Arial"/>
                <a:ea typeface="Arial"/>
                <a:cs typeface="Arial"/>
              </a:defRPr>
            </a:lvl1pPr>
            <a:lvl2pPr>
              <a:defRPr sz="2175" b="0">
                <a:solidFill>
                  <a:srgbClr val="182C40"/>
                </a:solidFill>
                <a:latin typeface="Arial"/>
                <a:ea typeface="Arial"/>
                <a:cs typeface="Arial"/>
              </a:defRPr>
            </a:lvl2pPr>
            <a:lvl3pPr>
              <a:defRPr sz="2175" b="0">
                <a:solidFill>
                  <a:srgbClr val="182C40"/>
                </a:solidFill>
                <a:latin typeface="Arial"/>
                <a:ea typeface="Arial"/>
                <a:cs typeface="Arial"/>
              </a:defRPr>
            </a:lvl3pPr>
            <a:lvl4pPr>
              <a:defRPr sz="2175" b="0">
                <a:solidFill>
                  <a:srgbClr val="182C40"/>
                </a:solidFill>
                <a:latin typeface="Arial"/>
                <a:ea typeface="Arial"/>
                <a:cs typeface="Arial"/>
              </a:defRPr>
            </a:lvl4pPr>
            <a:lvl5pPr>
              <a:defRPr sz="2175" b="0">
                <a:solidFill>
                  <a:srgbClr val="182C40"/>
                </a:solidFill>
                <a:latin typeface="Arial"/>
                <a:ea typeface="Arial"/>
                <a:cs typeface="Arial"/>
              </a:defRPr>
            </a:lvl5pPr>
            <a:lvl6pPr>
              <a:defRPr sz="2175" b="0">
                <a:solidFill>
                  <a:srgbClr val="182C40"/>
                </a:solidFill>
                <a:latin typeface="Arial"/>
                <a:ea typeface="Arial"/>
                <a:cs typeface="Arial"/>
              </a:defRPr>
            </a:lvl6pPr>
            <a:lvl7pPr>
              <a:defRPr sz="2175" b="0">
                <a:solidFill>
                  <a:srgbClr val="182C40"/>
                </a:solidFill>
                <a:latin typeface="Arial"/>
                <a:ea typeface="Arial"/>
                <a:cs typeface="Arial"/>
              </a:defRPr>
            </a:lvl7pPr>
            <a:lvl8pPr>
              <a:defRPr sz="2175" b="0">
                <a:solidFill>
                  <a:srgbClr val="182C40"/>
                </a:solidFill>
                <a:latin typeface="Arial"/>
                <a:ea typeface="Arial"/>
                <a:cs typeface="Arial"/>
              </a:defRPr>
            </a:lvl8pPr>
            <a:lvl9pPr>
              <a:defRPr sz="2175" b="0">
                <a:solidFill>
                  <a:srgbClr val="182C40"/>
                </a:solidFill>
                <a:latin typeface="Arial"/>
                <a:ea typeface="Arial"/>
                <a:cs typeface="Arial"/>
              </a:defRPr>
            </a:lvl9pPr>
          </a:lstStyle>
          <a:p xmlns:a="http://schemas.openxmlformats.org/drawingml/2006/main">
            <a:pPr>
              <a:defRPr sz="2175" b="0">
                <a:solidFill>
                  <a:srgbClr val="182C40"/>
                </a:solidFill>
                <a:latin typeface="Arial"/>
                <a:ea typeface="Arial"/>
                <a:cs typeface="Arial"/>
              </a:defRPr>
            </a:pPr>
            <a:r>
              <a:rPr sz="2175" b="0">
                <a:solidFill>
                  <a:srgbClr val="182C40"/>
                </a:solidFill>
                <a:latin typeface="Arial"/>
                <a:ea typeface="Arial"/>
                <a:cs typeface="Arial"/>
              </a:rPr>
              <a:t>Hồ sơ v1.1 Draft, ngày 29 tháng 10 năm 2026</a:t>
            </a:r>
          </a:p>
        </p:txBody>
      </p:sp>
      <p:sp>
        <p:nvSpPr>
          <p:cNvPr id="7" name="">
            <a:extLst xmlns:a="http://schemas.openxmlformats.org/drawingml/2006/main">
              <a:ext uri="{FF2B5EF4-FFF2-40B4-BE49-F238E27FC236}">
                <a16:creationId xmlns:a16="http://schemas.microsoft.com/office/drawing/2014/main" id="{3EB92830-A438-42B7-B47F-AE9D668F373F}"/>
              </a:ext>
            </a:extLst>
          </p:cNvPr>
          <p:cNvSpPr>
            <a:spLocks xmlns:a="http://schemas.openxmlformats.org/drawingml/2006/main" noGrp="1"/>
          </p:cNvSpPr>
          <p:nvPr/>
        </p:nvSpPr>
        <p:spPr>
          <a:xfrm xmlns:a="http://schemas.openxmlformats.org/drawingml/2006/main">
            <a:off x="571500" y="52578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C40"/>
                </a:solidFill>
                <a:latin typeface="Arial"/>
                <a:ea typeface="Arial"/>
                <a:cs typeface="Arial"/>
              </a:defRPr>
            </a:defPPr>
            <a:lvl1pPr>
              <a:defRPr sz="2175" b="0">
                <a:solidFill>
                  <a:srgbClr val="182C40"/>
                </a:solidFill>
                <a:latin typeface="Arial"/>
                <a:ea typeface="Arial"/>
                <a:cs typeface="Arial"/>
              </a:defRPr>
            </a:lvl1pPr>
            <a:lvl2pPr>
              <a:defRPr sz="2175" b="0">
                <a:solidFill>
                  <a:srgbClr val="182C40"/>
                </a:solidFill>
                <a:latin typeface="Arial"/>
                <a:ea typeface="Arial"/>
                <a:cs typeface="Arial"/>
              </a:defRPr>
            </a:lvl2pPr>
            <a:lvl3pPr>
              <a:defRPr sz="2175" b="0">
                <a:solidFill>
                  <a:srgbClr val="182C40"/>
                </a:solidFill>
                <a:latin typeface="Arial"/>
                <a:ea typeface="Arial"/>
                <a:cs typeface="Arial"/>
              </a:defRPr>
            </a:lvl3pPr>
            <a:lvl4pPr>
              <a:defRPr sz="2175" b="0">
                <a:solidFill>
                  <a:srgbClr val="182C40"/>
                </a:solidFill>
                <a:latin typeface="Arial"/>
                <a:ea typeface="Arial"/>
                <a:cs typeface="Arial"/>
              </a:defRPr>
            </a:lvl4pPr>
            <a:lvl5pPr>
              <a:defRPr sz="2175" b="0">
                <a:solidFill>
                  <a:srgbClr val="182C40"/>
                </a:solidFill>
                <a:latin typeface="Arial"/>
                <a:ea typeface="Arial"/>
                <a:cs typeface="Arial"/>
              </a:defRPr>
            </a:lvl5pPr>
            <a:lvl6pPr>
              <a:defRPr sz="2175" b="0">
                <a:solidFill>
                  <a:srgbClr val="182C40"/>
                </a:solidFill>
                <a:latin typeface="Arial"/>
                <a:ea typeface="Arial"/>
                <a:cs typeface="Arial"/>
              </a:defRPr>
            </a:lvl6pPr>
            <a:lvl7pPr>
              <a:defRPr sz="2175" b="0">
                <a:solidFill>
                  <a:srgbClr val="182C40"/>
                </a:solidFill>
                <a:latin typeface="Arial"/>
                <a:ea typeface="Arial"/>
                <a:cs typeface="Arial"/>
              </a:defRPr>
            </a:lvl7pPr>
            <a:lvl8pPr>
              <a:defRPr sz="2175" b="0">
                <a:solidFill>
                  <a:srgbClr val="182C40"/>
                </a:solidFill>
                <a:latin typeface="Arial"/>
                <a:ea typeface="Arial"/>
                <a:cs typeface="Arial"/>
              </a:defRPr>
            </a:lvl8pPr>
            <a:lvl9pPr>
              <a:defRPr sz="2175" b="0">
                <a:solidFill>
                  <a:srgbClr val="182C40"/>
                </a:solidFill>
                <a:latin typeface="Arial"/>
                <a:ea typeface="Arial"/>
                <a:cs typeface="Arial"/>
              </a:defRPr>
            </a:lvl9pPr>
          </a:lstStyle>
          <a:p xmlns:a="http://schemas.openxmlformats.org/drawingml/2006/main">
            <a:pPr>
              <a:defRPr sz="2175" b="0">
                <a:solidFill>
                  <a:srgbClr val="182C40"/>
                </a:solidFill>
                <a:latin typeface="Arial"/>
                <a:ea typeface="Arial"/>
                <a:cs typeface="Arial"/>
              </a:defRPr>
            </a:pPr>
            <a:r>
              <a:rPr sz="2175" b="0">
                <a:solidFill>
                  <a:srgbClr val="182C40"/>
                </a:solidFill>
                <a:latin typeface="Arial"/>
                <a:ea typeface="Arial"/>
                <a:cs typeface="Arial"/>
              </a:rPr>
              <a:t>Đề xuất phạm vi và thiết kế để giảng viên góp ý</a:t>
            </a:r>
          </a:p>
        </p:txBody>
      </p:sp>
    </p:spTree>
    <p:extLst>
      <p:ext uri="{BB962C8B-B14F-4D97-AF65-F5344CB8AC3E}">
        <p14:creationId xmlns:p14="http://schemas.microsoft.com/office/powerpoint/2010/main" val="15837000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FE84030-6845-43CC-9956-955EE82B8731}"/>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Phạm vi MVP</a:t>
            </a:r>
          </a:p>
        </p:txBody>
      </p:sp>
      <p:graphicFrame>
        <p:nvGraphicFramePr>
          <p:cNvPr id="3" name="">
            <a:extLst xmlns:a="http://schemas.openxmlformats.org/drawingml/2006/main">
              <a:ext uri="{FF2B5EF4-FFF2-40B4-BE49-F238E27FC236}">
                <a16:creationId xmlns:a16="http://schemas.microsoft.com/office/drawing/2014/main" id="{90BEF3BE-DF27-4337-867D-B2A3D3E3ECBD}"/>
              </a:ext>
            </a:extLst>
          </p:cNvPr>
          <p:cNvGraphicFramePr/>
          <p:nvPr/>
        </p:nvGraphicFramePr>
        <p:xfrm>
          <a:off xmlns:a="http://schemas.openxmlformats.org/drawingml/2006/main" x="571500" y="1314450"/>
          <a:ext xmlns:a="http://schemas.openxmlformats.org/drawingml/2006/main" cx="10953750" cy="2857500"/>
        </p:xfrm>
        <a:graphic xmlns:a="http://schemas.openxmlformats.org/drawingml/2006/main">
          <a:graphicData uri="http://schemas.openxmlformats.org/drawingml/2006/table">
            <a:tbl>
              <a:tblPr/>
              <a:tblGrid>
                <a:gridCol w="7810500"/>
                <a:gridCol w="3143250"/>
              </a:tblGrid>
              <a:tr h="714375">
                <a:tc>
                  <a:txBody>
                    <a:bodyPr/>
                    <a:lstStyle/>
                    <a:p>
                      <a:r>
                        <a:rPr sz="2250" b="1">
                          <a:solidFill>
                            <a:srgbClr val="FFFFFF"/>
                          </a:solidFill>
                          <a:latin typeface="Arial"/>
                          <a:ea typeface="Arial"/>
                          <a:cs typeface="Arial"/>
                        </a:rPr>
                        <a:t>Nhóm chức năng</a:t>
                      </a:r>
                    </a:p>
                  </a:txBody>
                  <a:tcPr marL="91440" marR="91440" marT="45720" marB="45720">
                    <a:lnL w="9525">
                      <a:solidFill>
                        <a:srgbClr val="D0D9E1"/>
                      </a:solidFill>
                    </a:lnL>
                    <a:lnT w="9525">
                      <a:solidFill>
                        <a:srgbClr val="D0D9E1"/>
                      </a:solidFill>
                    </a:lnT>
                    <a:solidFill>
                      <a:srgbClr val="173A5E"/>
                    </a:solidFill>
                  </a:tcPr>
                </a:tc>
                <a:tc>
                  <a:txBody>
                    <a:bodyPr/>
                    <a:lstStyle/>
                    <a:p>
                      <a:r>
                        <a:rPr sz="2250" b="1">
                          <a:solidFill>
                            <a:srgbClr val="FFFFFF"/>
                          </a:solidFill>
                          <a:latin typeface="Arial"/>
                          <a:ea typeface="Arial"/>
                          <a:cs typeface="Arial"/>
                        </a:rPr>
                        <a:t>Yêu cầu</a:t>
                      </a:r>
                    </a:p>
                  </a:txBody>
                  <a:tcPr marL="91440" marR="91440" marT="45720" marB="45720">
                    <a:lnR w="9525">
                      <a:solidFill>
                        <a:srgbClr val="D0D9E1"/>
                      </a:solidFill>
                    </a:lnR>
                    <a:lnT w="9525">
                      <a:solidFill>
                        <a:srgbClr val="D0D9E1"/>
                      </a:solidFill>
                    </a:lnT>
                    <a:solidFill>
                      <a:srgbClr val="173A5E"/>
                    </a:solidFill>
                  </a:tcPr>
                </a:tc>
              </a:tr>
              <a:tr h="714375">
                <a:tc>
                  <a:txBody>
                    <a:bodyPr/>
                    <a:lstStyle/>
                    <a:p>
                      <a:r>
                        <a:rPr sz="2250">
                          <a:solidFill>
                            <a:srgbClr val="182C40"/>
                          </a:solidFill>
                          <a:latin typeface="Arial"/>
                          <a:ea typeface="Arial"/>
                          <a:cs typeface="Arial"/>
                        </a:rPr>
                        <a:t>Tài khoản và danh mục</a:t>
                      </a:r>
                    </a:p>
                  </a:txBody>
                  <a:tcPr marL="91440" marR="91440" marT="45720" marB="45720">
                    <a:lnL w="9525">
                      <a:solidFill>
                        <a:srgbClr val="D0D9E1"/>
                      </a:solidFill>
                    </a:lnL>
                    <a:solidFill>
                      <a:srgbClr val="FFFFFF"/>
                    </a:solidFill>
                  </a:tcPr>
                </a:tc>
                <a:tc>
                  <a:txBody>
                    <a:bodyPr/>
                    <a:lstStyle/>
                    <a:p>
                      <a:r>
                        <a:rPr sz="2250">
                          <a:solidFill>
                            <a:srgbClr val="182C40"/>
                          </a:solidFill>
                          <a:latin typeface="Arial"/>
                          <a:ea typeface="Arial"/>
                          <a:cs typeface="Arial"/>
                        </a:rPr>
                        <a:t>HD01–HD02</a:t>
                      </a:r>
                    </a:p>
                  </a:txBody>
                  <a:tcPr marL="91440" marR="91440" marT="45720" marB="45720">
                    <a:lnR w="9525">
                      <a:solidFill>
                        <a:srgbClr val="D0D9E1"/>
                      </a:solidFill>
                    </a:lnR>
                    <a:solidFill>
                      <a:srgbClr val="FFFFFF"/>
                    </a:solidFill>
                  </a:tcPr>
                </a:tc>
              </a:tr>
              <a:tr h="714375">
                <a:tc>
                  <a:txBody>
                    <a:bodyPr/>
                    <a:lstStyle/>
                    <a:p>
                      <a:r>
                        <a:rPr sz="2250">
                          <a:solidFill>
                            <a:srgbClr val="182C40"/>
                          </a:solidFill>
                          <a:latin typeface="Arial"/>
                          <a:ea typeface="Arial"/>
                          <a:cs typeface="Arial"/>
                        </a:rPr>
                        <a:t>Ticket, xử lý và đóng/mở lại</a:t>
                      </a:r>
                    </a:p>
                  </a:txBody>
                  <a:tcPr marL="91440" marR="91440" marT="45720" marB="45720">
                    <a:lnL w="9525">
                      <a:solidFill>
                        <a:srgbClr val="D0D9E1"/>
                      </a:solidFill>
                    </a:lnL>
                    <a:solidFill>
                      <a:srgbClr val="FFFFFF"/>
                    </a:solidFill>
                  </a:tcPr>
                </a:tc>
                <a:tc>
                  <a:txBody>
                    <a:bodyPr/>
                    <a:lstStyle/>
                    <a:p>
                      <a:r>
                        <a:rPr sz="2250">
                          <a:solidFill>
                            <a:srgbClr val="182C40"/>
                          </a:solidFill>
                          <a:latin typeface="Arial"/>
                          <a:ea typeface="Arial"/>
                          <a:cs typeface="Arial"/>
                        </a:rPr>
                        <a:t>HD03–HD10</a:t>
                      </a:r>
                    </a:p>
                  </a:txBody>
                  <a:tcPr marL="91440" marR="91440" marT="45720" marB="45720">
                    <a:lnR w="9525">
                      <a:solidFill>
                        <a:srgbClr val="D0D9E1"/>
                      </a:solidFill>
                    </a:lnR>
                    <a:solidFill>
                      <a:srgbClr val="FFFFFF"/>
                    </a:solidFill>
                  </a:tcPr>
                </a:tc>
              </a:tr>
              <a:tr h="714375">
                <a:tc>
                  <a:txBody>
                    <a:bodyPr/>
                    <a:lstStyle/>
                    <a:p>
                      <a:r>
                        <a:rPr sz="2250">
                          <a:solidFill>
                            <a:srgbClr val="182C40"/>
                          </a:solidFill>
                          <a:latin typeface="Arial"/>
                          <a:ea typeface="Arial"/>
                          <a:cs typeface="Arial"/>
                        </a:rPr>
                        <a:t>SLA, tìm kiếm và dashboard</a:t>
                      </a:r>
                    </a:p>
                  </a:txBody>
                  <a:tcPr marL="91440" marR="91440" marT="45720" marB="45720">
                    <a:lnL w="9525">
                      <a:solidFill>
                        <a:srgbClr val="D0D9E1"/>
                      </a:solidFill>
                    </a:lnL>
                    <a:lnB w="9525">
                      <a:solidFill>
                        <a:srgbClr val="D0D9E1"/>
                      </a:solidFill>
                    </a:lnB>
                    <a:solidFill>
                      <a:srgbClr val="FFFFFF"/>
                    </a:solidFill>
                  </a:tcPr>
                </a:tc>
                <a:tc>
                  <a:txBody>
                    <a:bodyPr/>
                    <a:lstStyle/>
                    <a:p>
                      <a:r>
                        <a:rPr sz="2250">
                          <a:solidFill>
                            <a:srgbClr val="182C40"/>
                          </a:solidFill>
                          <a:latin typeface="Arial"/>
                          <a:ea typeface="Arial"/>
                          <a:cs typeface="Arial"/>
                        </a:rPr>
                        <a:t>HD11–HD14</a:t>
                      </a:r>
                    </a:p>
                  </a:txBody>
                  <a:tcPr marL="91440" marR="91440" marT="45720" marB="45720">
                    <a:lnR w="9525">
                      <a:solidFill>
                        <a:srgbClr val="D0D9E1"/>
                      </a:solidFill>
                    </a:lnR>
                    <a:lnB w="9525">
                      <a:solidFill>
                        <a:srgbClr val="D0D9E1"/>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CDD6E9-F503-4B9B-A92F-7C7CEB4C647E}"/>
              </a:ext>
            </a:extLst>
          </p:cNvPr>
          <p:cNvSpPr>
            <a:spLocks xmlns:a="http://schemas.openxmlformats.org/drawingml/2006/main" noGrp="1"/>
          </p:cNvSpPr>
          <p:nvPr/>
        </p:nvSpPr>
        <p:spPr>
          <a:xfrm xmlns:a="http://schemas.openxmlformats.org/drawingml/2006/main">
            <a:off x="571500" y="44767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2C40"/>
                </a:solidFill>
                <a:latin typeface="Arial"/>
                <a:ea typeface="Arial"/>
                <a:cs typeface="Arial"/>
              </a:defRPr>
            </a:defPPr>
            <a:lvl1pPr>
              <a:defRPr sz="2175" b="1">
                <a:solidFill>
                  <a:srgbClr val="182C40"/>
                </a:solidFill>
                <a:latin typeface="Arial"/>
                <a:ea typeface="Arial"/>
                <a:cs typeface="Arial"/>
              </a:defRPr>
            </a:lvl1pPr>
            <a:lvl2pPr>
              <a:defRPr sz="2175" b="1">
                <a:solidFill>
                  <a:srgbClr val="182C40"/>
                </a:solidFill>
                <a:latin typeface="Arial"/>
                <a:ea typeface="Arial"/>
                <a:cs typeface="Arial"/>
              </a:defRPr>
            </a:lvl2pPr>
            <a:lvl3pPr>
              <a:defRPr sz="2175" b="1">
                <a:solidFill>
                  <a:srgbClr val="182C40"/>
                </a:solidFill>
                <a:latin typeface="Arial"/>
                <a:ea typeface="Arial"/>
                <a:cs typeface="Arial"/>
              </a:defRPr>
            </a:lvl3pPr>
            <a:lvl4pPr>
              <a:defRPr sz="2175" b="1">
                <a:solidFill>
                  <a:srgbClr val="182C40"/>
                </a:solidFill>
                <a:latin typeface="Arial"/>
                <a:ea typeface="Arial"/>
                <a:cs typeface="Arial"/>
              </a:defRPr>
            </a:lvl4pPr>
            <a:lvl5pPr>
              <a:defRPr sz="2175" b="1">
                <a:solidFill>
                  <a:srgbClr val="182C40"/>
                </a:solidFill>
                <a:latin typeface="Arial"/>
                <a:ea typeface="Arial"/>
                <a:cs typeface="Arial"/>
              </a:defRPr>
            </a:lvl5pPr>
            <a:lvl6pPr>
              <a:defRPr sz="2175" b="1">
                <a:solidFill>
                  <a:srgbClr val="182C40"/>
                </a:solidFill>
                <a:latin typeface="Arial"/>
                <a:ea typeface="Arial"/>
                <a:cs typeface="Arial"/>
              </a:defRPr>
            </a:lvl6pPr>
            <a:lvl7pPr>
              <a:defRPr sz="2175" b="1">
                <a:solidFill>
                  <a:srgbClr val="182C40"/>
                </a:solidFill>
                <a:latin typeface="Arial"/>
                <a:ea typeface="Arial"/>
                <a:cs typeface="Arial"/>
              </a:defRPr>
            </a:lvl7pPr>
            <a:lvl8pPr>
              <a:defRPr sz="2175" b="1">
                <a:solidFill>
                  <a:srgbClr val="182C40"/>
                </a:solidFill>
                <a:latin typeface="Arial"/>
                <a:ea typeface="Arial"/>
                <a:cs typeface="Arial"/>
              </a:defRPr>
            </a:lvl8pPr>
            <a:lvl9pPr>
              <a:defRPr sz="2175" b="1">
                <a:solidFill>
                  <a:srgbClr val="182C40"/>
                </a:solidFill>
                <a:latin typeface="Arial"/>
                <a:ea typeface="Arial"/>
                <a:cs typeface="Arial"/>
              </a:defRPr>
            </a:lvl9pPr>
          </a:lstStyle>
          <a:p xmlns:a="http://schemas.openxmlformats.org/drawingml/2006/main">
            <a:pPr>
              <a:defRPr sz="2175" b="1">
                <a:solidFill>
                  <a:srgbClr val="182C40"/>
                </a:solidFill>
                <a:latin typeface="Arial"/>
                <a:ea typeface="Arial"/>
                <a:cs typeface="Arial"/>
              </a:defRPr>
            </a:pPr>
            <a:r>
              <a:rPr sz="2175" b="1">
                <a:solidFill>
                  <a:srgbClr val="182C40"/>
                </a:solidFill>
                <a:latin typeface="Arial"/>
                <a:ea typeface="Arial"/>
                <a:cs typeface="Arial"/>
              </a:rPr>
              <a:t>Employee, IT Staff, IT Manager và Admin</a:t>
            </a:r>
          </a:p>
        </p:txBody>
      </p:sp>
      <p:sp>
        <p:nvSpPr>
          <p:cNvPr id="5" name="">
            <a:extLst xmlns:a="http://schemas.openxmlformats.org/drawingml/2006/main">
              <a:ext uri="{FF2B5EF4-FFF2-40B4-BE49-F238E27FC236}">
                <a16:creationId xmlns:a16="http://schemas.microsoft.com/office/drawing/2014/main" id="{66C4407E-D90D-40D4-9F5C-04C0F2EC8340}"/>
              </a:ext>
            </a:extLst>
          </p:cNvPr>
          <p:cNvSpPr>
            <a:spLocks xmlns:a="http://schemas.openxmlformats.org/drawingml/2006/main" noGrp="1"/>
          </p:cNvSpPr>
          <p:nvPr/>
        </p:nvSpPr>
        <p:spPr>
          <a:xfrm xmlns:a="http://schemas.openxmlformats.org/drawingml/2006/main">
            <a:off x="571500" y="50768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87F8C"/>
                </a:solidFill>
                <a:latin typeface="Arial"/>
                <a:ea typeface="Arial"/>
                <a:cs typeface="Arial"/>
              </a:defRPr>
            </a:defPPr>
            <a:lvl1pPr>
              <a:defRPr sz="2100" b="0">
                <a:solidFill>
                  <a:srgbClr val="087F8C"/>
                </a:solidFill>
                <a:latin typeface="Arial"/>
                <a:ea typeface="Arial"/>
                <a:cs typeface="Arial"/>
              </a:defRPr>
            </a:lvl1pPr>
            <a:lvl2pPr>
              <a:defRPr sz="2100" b="0">
                <a:solidFill>
                  <a:srgbClr val="087F8C"/>
                </a:solidFill>
                <a:latin typeface="Arial"/>
                <a:ea typeface="Arial"/>
                <a:cs typeface="Arial"/>
              </a:defRPr>
            </a:lvl2pPr>
            <a:lvl3pPr>
              <a:defRPr sz="2100" b="0">
                <a:solidFill>
                  <a:srgbClr val="087F8C"/>
                </a:solidFill>
                <a:latin typeface="Arial"/>
                <a:ea typeface="Arial"/>
                <a:cs typeface="Arial"/>
              </a:defRPr>
            </a:lvl3pPr>
            <a:lvl4pPr>
              <a:defRPr sz="2100" b="0">
                <a:solidFill>
                  <a:srgbClr val="087F8C"/>
                </a:solidFill>
                <a:latin typeface="Arial"/>
                <a:ea typeface="Arial"/>
                <a:cs typeface="Arial"/>
              </a:defRPr>
            </a:lvl4pPr>
            <a:lvl5pPr>
              <a:defRPr sz="2100" b="0">
                <a:solidFill>
                  <a:srgbClr val="087F8C"/>
                </a:solidFill>
                <a:latin typeface="Arial"/>
                <a:ea typeface="Arial"/>
                <a:cs typeface="Arial"/>
              </a:defRPr>
            </a:lvl5pPr>
            <a:lvl6pPr>
              <a:defRPr sz="2100" b="0">
                <a:solidFill>
                  <a:srgbClr val="087F8C"/>
                </a:solidFill>
                <a:latin typeface="Arial"/>
                <a:ea typeface="Arial"/>
                <a:cs typeface="Arial"/>
              </a:defRPr>
            </a:lvl6pPr>
            <a:lvl7pPr>
              <a:defRPr sz="2100" b="0">
                <a:solidFill>
                  <a:srgbClr val="087F8C"/>
                </a:solidFill>
                <a:latin typeface="Arial"/>
                <a:ea typeface="Arial"/>
                <a:cs typeface="Arial"/>
              </a:defRPr>
            </a:lvl7pPr>
            <a:lvl8pPr>
              <a:defRPr sz="2100" b="0">
                <a:solidFill>
                  <a:srgbClr val="087F8C"/>
                </a:solidFill>
                <a:latin typeface="Arial"/>
                <a:ea typeface="Arial"/>
                <a:cs typeface="Arial"/>
              </a:defRPr>
            </a:lvl8pPr>
            <a:lvl9pPr>
              <a:defRPr sz="2100" b="0">
                <a:solidFill>
                  <a:srgbClr val="087F8C"/>
                </a:solidFill>
                <a:latin typeface="Arial"/>
                <a:ea typeface="Arial"/>
                <a:cs typeface="Arial"/>
              </a:defRPr>
            </a:lvl9pPr>
          </a:lstStyle>
          <a:p xmlns:a="http://schemas.openxmlformats.org/drawingml/2006/main">
            <a:pPr>
              <a:defRPr sz="2100" b="0">
                <a:solidFill>
                  <a:srgbClr val="087F8C"/>
                </a:solidFill>
                <a:latin typeface="Arial"/>
                <a:ea typeface="Arial"/>
                <a:cs typeface="Arial"/>
              </a:defRPr>
            </a:pPr>
            <a:r>
              <a:rPr sz="2100" b="0">
                <a:solidFill>
                  <a:srgbClr val="087F8C"/>
                </a:solidFill>
                <a:latin typeface="Arial"/>
                <a:ea typeface="Arial"/>
                <a:cs typeface="Arial"/>
              </a:rPr>
              <a:t>HD15 đánh giá hài lòng: Should, ngoài điều kiện MVP cốt lõi</a:t>
            </a:r>
          </a:p>
        </p:txBody>
      </p:sp>
      <p:sp>
        <p:nvSpPr>
          <p:cNvPr id="6" name="">
            <a:extLst xmlns:a="http://schemas.openxmlformats.org/drawingml/2006/main">
              <a:ext uri="{FF2B5EF4-FFF2-40B4-BE49-F238E27FC236}">
                <a16:creationId xmlns:a16="http://schemas.microsoft.com/office/drawing/2014/main" id="{1FBCB456-7AA3-49E9-9695-B5D6D337B439}"/>
              </a:ext>
            </a:extLst>
          </p:cNvPr>
          <p:cNvSpPr>
            <a:spLocks xmlns:a="http://schemas.openxmlformats.org/drawingml/2006/main" noGrp="1"/>
          </p:cNvSpPr>
          <p:nvPr/>
        </p:nvSpPr>
        <p:spPr>
          <a:xfrm xmlns:a="http://schemas.openxmlformats.org/drawingml/2006/main">
            <a:off x="571500" y="5819775"/>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2C40"/>
                </a:solidFill>
                <a:latin typeface="Arial"/>
                <a:ea typeface="Arial"/>
                <a:cs typeface="Arial"/>
              </a:defRPr>
            </a:defPPr>
            <a:lvl1pPr>
              <a:defRPr sz="1950" b="0">
                <a:solidFill>
                  <a:srgbClr val="182C40"/>
                </a:solidFill>
                <a:latin typeface="Arial"/>
                <a:ea typeface="Arial"/>
                <a:cs typeface="Arial"/>
              </a:defRPr>
            </a:lvl1pPr>
            <a:lvl2pPr>
              <a:defRPr sz="1950" b="0">
                <a:solidFill>
                  <a:srgbClr val="182C40"/>
                </a:solidFill>
                <a:latin typeface="Arial"/>
                <a:ea typeface="Arial"/>
                <a:cs typeface="Arial"/>
              </a:defRPr>
            </a:lvl2pPr>
            <a:lvl3pPr>
              <a:defRPr sz="1950" b="0">
                <a:solidFill>
                  <a:srgbClr val="182C40"/>
                </a:solidFill>
                <a:latin typeface="Arial"/>
                <a:ea typeface="Arial"/>
                <a:cs typeface="Arial"/>
              </a:defRPr>
            </a:lvl3pPr>
            <a:lvl4pPr>
              <a:defRPr sz="1950" b="0">
                <a:solidFill>
                  <a:srgbClr val="182C40"/>
                </a:solidFill>
                <a:latin typeface="Arial"/>
                <a:ea typeface="Arial"/>
                <a:cs typeface="Arial"/>
              </a:defRPr>
            </a:lvl4pPr>
            <a:lvl5pPr>
              <a:defRPr sz="1950" b="0">
                <a:solidFill>
                  <a:srgbClr val="182C40"/>
                </a:solidFill>
                <a:latin typeface="Arial"/>
                <a:ea typeface="Arial"/>
                <a:cs typeface="Arial"/>
              </a:defRPr>
            </a:lvl5pPr>
            <a:lvl6pPr>
              <a:defRPr sz="1950" b="0">
                <a:solidFill>
                  <a:srgbClr val="182C40"/>
                </a:solidFill>
                <a:latin typeface="Arial"/>
                <a:ea typeface="Arial"/>
                <a:cs typeface="Arial"/>
              </a:defRPr>
            </a:lvl6pPr>
            <a:lvl7pPr>
              <a:defRPr sz="1950" b="0">
                <a:solidFill>
                  <a:srgbClr val="182C40"/>
                </a:solidFill>
                <a:latin typeface="Arial"/>
                <a:ea typeface="Arial"/>
                <a:cs typeface="Arial"/>
              </a:defRPr>
            </a:lvl7pPr>
            <a:lvl8pPr>
              <a:defRPr sz="1950" b="0">
                <a:solidFill>
                  <a:srgbClr val="182C40"/>
                </a:solidFill>
                <a:latin typeface="Arial"/>
                <a:ea typeface="Arial"/>
                <a:cs typeface="Arial"/>
              </a:defRPr>
            </a:lvl8pPr>
            <a:lvl9pPr>
              <a:defRPr sz="1950" b="0">
                <a:solidFill>
                  <a:srgbClr val="182C40"/>
                </a:solidFill>
                <a:latin typeface="Arial"/>
                <a:ea typeface="Arial"/>
                <a:cs typeface="Arial"/>
              </a:defRPr>
            </a:lvl9pPr>
          </a:lstStyle>
          <a:p xmlns:a="http://schemas.openxmlformats.org/drawingml/2006/main">
            <a:pPr>
              <a:defRPr sz="1950" b="0">
                <a:solidFill>
                  <a:srgbClr val="182C40"/>
                </a:solidFill>
                <a:latin typeface="Arial"/>
                <a:ea typeface="Arial"/>
                <a:cs typeface="Arial"/>
              </a:defRPr>
            </a:pPr>
            <a:r>
              <a:rPr sz="1950" b="0">
                <a:solidFill>
                  <a:srgbClr val="182C40"/>
                </a:solidFill>
                <a:latin typeface="Arial"/>
                <a:ea typeface="Arial"/>
                <a:cs typeface="Arial"/>
              </a:rPr>
              <a:t>Ngoài phạm vi: điều khiển máy từ xa, agent endpoint, Active Directory và SOC ngoài lab</a:t>
            </a:r>
          </a:p>
        </p:txBody>
      </p:sp>
    </p:spTree>
    <p:extLst>
      <p:ext uri="{BB962C8B-B14F-4D97-AF65-F5344CB8AC3E}">
        <p14:creationId xmlns:p14="http://schemas.microsoft.com/office/powerpoint/2010/main" val="20819597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F9AF925-E822-48D8-861C-AA91DC3BD318}"/>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Quy trình nghiệp vụ</a:t>
            </a:r>
          </a:p>
        </p:txBody>
      </p:sp>
      <p:graphicFrame>
        <p:nvGraphicFramePr>
          <p:cNvPr id="3" name="">
            <a:extLst xmlns:a="http://schemas.openxmlformats.org/drawingml/2006/main">
              <a:ext uri="{FF2B5EF4-FFF2-40B4-BE49-F238E27FC236}">
                <a16:creationId xmlns:a16="http://schemas.microsoft.com/office/drawing/2014/main" id="{09384CC1-AC8E-4ACF-B15B-5F4FEAFAEFC2}"/>
              </a:ext>
            </a:extLst>
          </p:cNvPr>
          <p:cNvGraphicFramePr/>
          <p:nvPr/>
        </p:nvGraphicFramePr>
        <p:xfrm>
          <a:off xmlns:a="http://schemas.openxmlformats.org/drawingml/2006/main" x="571500" y="1295400"/>
          <a:ext xmlns:a="http://schemas.openxmlformats.org/drawingml/2006/main" cx="10953750" cy="3286125"/>
        </p:xfrm>
        <a:graphic xmlns:a="http://schemas.openxmlformats.org/drawingml/2006/main">
          <a:graphicData uri="http://schemas.openxmlformats.org/drawingml/2006/table">
            <a:tbl>
              <a:tblPr/>
              <a:tblGrid>
                <a:gridCol w="2952750"/>
                <a:gridCol w="8001000"/>
              </a:tblGrid>
              <a:tr h="821531">
                <a:tc>
                  <a:txBody>
                    <a:bodyPr/>
                    <a:lstStyle/>
                    <a:p>
                      <a:r>
                        <a:rPr sz="2100" b="1">
                          <a:solidFill>
                            <a:srgbClr val="FFFFFF"/>
                          </a:solidFill>
                          <a:latin typeface="Arial"/>
                          <a:ea typeface="Arial"/>
                          <a:cs typeface="Arial"/>
                        </a:rPr>
                        <a:t>Quy trình</a:t>
                      </a:r>
                    </a:p>
                  </a:txBody>
                  <a:tcPr marL="91440" marR="91440" marT="45720" marB="45720">
                    <a:lnL w="9525">
                      <a:solidFill>
                        <a:srgbClr val="D0D9E1"/>
                      </a:solidFill>
                    </a:lnL>
                    <a:lnT w="9525">
                      <a:solidFill>
                        <a:srgbClr val="D0D9E1"/>
                      </a:solidFill>
                    </a:lnT>
                    <a:solidFill>
                      <a:srgbClr val="173A5E"/>
                    </a:solidFill>
                  </a:tcPr>
                </a:tc>
                <a:tc>
                  <a:txBody>
                    <a:bodyPr/>
                    <a:lstStyle/>
                    <a:p>
                      <a:r>
                        <a:rPr sz="2100" b="1">
                          <a:solidFill>
                            <a:srgbClr val="FFFFFF"/>
                          </a:solidFill>
                          <a:latin typeface="Arial"/>
                          <a:ea typeface="Arial"/>
                          <a:cs typeface="Arial"/>
                        </a:rPr>
                        <a:t>Luồng tóm tắt</a:t>
                      </a:r>
                    </a:p>
                  </a:txBody>
                  <a:tcPr marL="91440" marR="91440" marT="45720" marB="45720">
                    <a:lnR w="9525">
                      <a:solidFill>
                        <a:srgbClr val="D0D9E1"/>
                      </a:solidFill>
                    </a:lnR>
                    <a:lnT w="9525">
                      <a:solidFill>
                        <a:srgbClr val="D0D9E1"/>
                      </a:solidFill>
                    </a:lnT>
                    <a:solidFill>
                      <a:srgbClr val="173A5E"/>
                    </a:solidFill>
                  </a:tcPr>
                </a:tc>
              </a:tr>
              <a:tr h="821531">
                <a:tc>
                  <a:txBody>
                    <a:bodyPr/>
                    <a:lstStyle/>
                    <a:p>
                      <a:r>
                        <a:rPr sz="2100">
                          <a:solidFill>
                            <a:srgbClr val="182C40"/>
                          </a:solidFill>
                          <a:latin typeface="Arial"/>
                          <a:ea typeface="Arial"/>
                          <a:cs typeface="Arial"/>
                        </a:rPr>
                        <a:t>P1 Tiếp nhận và xử lý</a:t>
                      </a:r>
                    </a:p>
                  </a:txBody>
                  <a:tcPr marL="91440" marR="91440" marT="45720" marB="45720">
                    <a:lnL w="9525">
                      <a:solidFill>
                        <a:srgbClr val="D0D9E1"/>
                      </a:solidFill>
                    </a:lnL>
                    <a:solidFill>
                      <a:srgbClr val="FFFFFF"/>
                    </a:solidFill>
                  </a:tcPr>
                </a:tc>
                <a:tc>
                  <a:txBody>
                    <a:bodyPr/>
                    <a:lstStyle/>
                    <a:p>
                      <a:r>
                        <a:rPr sz="2100">
                          <a:solidFill>
                            <a:srgbClr val="182C40"/>
                          </a:solidFill>
                          <a:latin typeface="Arial"/>
                          <a:ea typeface="Arial"/>
                          <a:cs typeface="Arial"/>
                        </a:rPr>
                        <a:t>Tạo ticket, phân công, tiếp nhận, xử lý, nhập giải pháp, Resolved</a:t>
                      </a:r>
                    </a:p>
                  </a:txBody>
                  <a:tcPr marL="91440" marR="91440" marT="45720" marB="45720">
                    <a:lnR w="9525">
                      <a:solidFill>
                        <a:srgbClr val="D0D9E1"/>
                      </a:solidFill>
                    </a:lnR>
                    <a:solidFill>
                      <a:srgbClr val="FFFFFF"/>
                    </a:solidFill>
                  </a:tcPr>
                </a:tc>
              </a:tr>
              <a:tr h="821531">
                <a:tc>
                  <a:txBody>
                    <a:bodyPr/>
                    <a:lstStyle/>
                    <a:p>
                      <a:r>
                        <a:rPr sz="2100">
                          <a:solidFill>
                            <a:srgbClr val="182C40"/>
                          </a:solidFill>
                          <a:latin typeface="Arial"/>
                          <a:ea typeface="Arial"/>
                          <a:cs typeface="Arial"/>
                        </a:rPr>
                        <a:t>P2 Theo dõi SLA</a:t>
                      </a:r>
                    </a:p>
                  </a:txBody>
                  <a:tcPr marL="91440" marR="91440" marT="45720" marB="45720">
                    <a:lnL w="9525">
                      <a:solidFill>
                        <a:srgbClr val="D0D9E1"/>
                      </a:solidFill>
                    </a:lnL>
                    <a:solidFill>
                      <a:srgbClr val="FFFFFF"/>
                    </a:solidFill>
                  </a:tcPr>
                </a:tc>
                <a:tc>
                  <a:txBody>
                    <a:bodyPr/>
                    <a:lstStyle/>
                    <a:p>
                      <a:r>
                        <a:rPr sz="2100">
                          <a:solidFill>
                            <a:srgbClr val="182C40"/>
                          </a:solidFill>
                          <a:latin typeface="Arial"/>
                          <a:ea typeface="Arial"/>
                          <a:cs typeface="Arial"/>
                        </a:rPr>
                        <a:t>Worker 5 phút, nhãn gần hạn/quá hạn, Manager xem chi tiết và điều phối</a:t>
                      </a:r>
                    </a:p>
                  </a:txBody>
                  <a:tcPr marL="91440" marR="91440" marT="45720" marB="45720">
                    <a:lnR w="9525">
                      <a:solidFill>
                        <a:srgbClr val="D0D9E1"/>
                      </a:solidFill>
                    </a:lnR>
                    <a:solidFill>
                      <a:srgbClr val="FFFFFF"/>
                    </a:solidFill>
                  </a:tcPr>
                </a:tc>
              </a:tr>
              <a:tr h="821531">
                <a:tc>
                  <a:txBody>
                    <a:bodyPr/>
                    <a:lstStyle/>
                    <a:p>
                      <a:r>
                        <a:rPr sz="2100">
                          <a:solidFill>
                            <a:srgbClr val="182C40"/>
                          </a:solidFill>
                          <a:latin typeface="Arial"/>
                          <a:ea typeface="Arial"/>
                          <a:cs typeface="Arial"/>
                        </a:rPr>
                        <a:t>P3 Đóng hoặc yêu cầu mở lại</a:t>
                      </a:r>
                    </a:p>
                  </a:txBody>
                  <a:tcPr marL="91440" marR="91440" marT="45720" marB="45720">
                    <a:lnL w="9525">
                      <a:solidFill>
                        <a:srgbClr val="D0D9E1"/>
                      </a:solidFill>
                    </a:lnL>
                    <a:lnB w="9525">
                      <a:solidFill>
                        <a:srgbClr val="D0D9E1"/>
                      </a:solidFill>
                    </a:lnB>
                    <a:solidFill>
                      <a:srgbClr val="FFFFFF"/>
                    </a:solidFill>
                  </a:tcPr>
                </a:tc>
                <a:tc>
                  <a:txBody>
                    <a:bodyPr/>
                    <a:lstStyle/>
                    <a:p>
                      <a:r>
                        <a:rPr sz="2100">
                          <a:solidFill>
                            <a:srgbClr val="182C40"/>
                          </a:solidFill>
                          <a:latin typeface="Arial"/>
                          <a:ea typeface="Arial"/>
                          <a:cs typeface="Arial"/>
                        </a:rPr>
                        <a:t>Chủ ticket đóng khi Resolved hoặc gửi request PENDING để Manager duyệt</a:t>
                      </a:r>
                    </a:p>
                  </a:txBody>
                  <a:tcPr marL="91440" marR="91440" marT="45720" marB="45720">
                    <a:lnR w="9525">
                      <a:solidFill>
                        <a:srgbClr val="D0D9E1"/>
                      </a:solidFill>
                    </a:lnR>
                    <a:lnB w="9525">
                      <a:solidFill>
                        <a:srgbClr val="D0D9E1"/>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F1BA39-D80D-420F-A975-0B6795AF25A3}"/>
              </a:ext>
            </a:extLst>
          </p:cNvPr>
          <p:cNvSpPr>
            <a:spLocks xmlns:a="http://schemas.openxmlformats.org/drawingml/2006/main" noGrp="1"/>
          </p:cNvSpPr>
          <p:nvPr/>
        </p:nvSpPr>
        <p:spPr>
          <a:xfrm xmlns:a="http://schemas.openxmlformats.org/drawingml/2006/main">
            <a:off x="571500" y="49339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Theo UC-08: ticket giữ Resolved trong lúc yêu cầu PENDING</a:t>
            </a:r>
          </a:p>
        </p:txBody>
      </p:sp>
      <p:sp>
        <p:nvSpPr>
          <p:cNvPr id="5" name="">
            <a:extLst xmlns:a="http://schemas.openxmlformats.org/drawingml/2006/main">
              <a:ext uri="{FF2B5EF4-FFF2-40B4-BE49-F238E27FC236}">
                <a16:creationId xmlns:a16="http://schemas.microsoft.com/office/drawing/2014/main" id="{7B10719B-9FCC-4FE2-9B61-2EC0D6E45C79}"/>
              </a:ext>
            </a:extLst>
          </p:cNvPr>
          <p:cNvSpPr>
            <a:spLocks xmlns:a="http://schemas.openxmlformats.org/drawingml/2006/main" noGrp="1"/>
          </p:cNvSpPr>
          <p:nvPr/>
        </p:nvSpPr>
        <p:spPr>
          <a:xfrm xmlns:a="http://schemas.openxmlformats.org/drawingml/2006/main">
            <a:off x="571500" y="57816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2C40"/>
                </a:solidFill>
                <a:latin typeface="Arial"/>
                <a:ea typeface="Arial"/>
                <a:cs typeface="Arial"/>
              </a:defRPr>
            </a:defPPr>
            <a:lvl1pPr>
              <a:defRPr sz="1950" b="0">
                <a:solidFill>
                  <a:srgbClr val="182C40"/>
                </a:solidFill>
                <a:latin typeface="Arial"/>
                <a:ea typeface="Arial"/>
                <a:cs typeface="Arial"/>
              </a:defRPr>
            </a:lvl1pPr>
            <a:lvl2pPr>
              <a:defRPr sz="1950" b="0">
                <a:solidFill>
                  <a:srgbClr val="182C40"/>
                </a:solidFill>
                <a:latin typeface="Arial"/>
                <a:ea typeface="Arial"/>
                <a:cs typeface="Arial"/>
              </a:defRPr>
            </a:lvl2pPr>
            <a:lvl3pPr>
              <a:defRPr sz="1950" b="0">
                <a:solidFill>
                  <a:srgbClr val="182C40"/>
                </a:solidFill>
                <a:latin typeface="Arial"/>
                <a:ea typeface="Arial"/>
                <a:cs typeface="Arial"/>
              </a:defRPr>
            </a:lvl3pPr>
            <a:lvl4pPr>
              <a:defRPr sz="1950" b="0">
                <a:solidFill>
                  <a:srgbClr val="182C40"/>
                </a:solidFill>
                <a:latin typeface="Arial"/>
                <a:ea typeface="Arial"/>
                <a:cs typeface="Arial"/>
              </a:defRPr>
            </a:lvl4pPr>
            <a:lvl5pPr>
              <a:defRPr sz="1950" b="0">
                <a:solidFill>
                  <a:srgbClr val="182C40"/>
                </a:solidFill>
                <a:latin typeface="Arial"/>
                <a:ea typeface="Arial"/>
                <a:cs typeface="Arial"/>
              </a:defRPr>
            </a:lvl5pPr>
            <a:lvl6pPr>
              <a:defRPr sz="1950" b="0">
                <a:solidFill>
                  <a:srgbClr val="182C40"/>
                </a:solidFill>
                <a:latin typeface="Arial"/>
                <a:ea typeface="Arial"/>
                <a:cs typeface="Arial"/>
              </a:defRPr>
            </a:lvl6pPr>
            <a:lvl7pPr>
              <a:defRPr sz="1950" b="0">
                <a:solidFill>
                  <a:srgbClr val="182C40"/>
                </a:solidFill>
                <a:latin typeface="Arial"/>
                <a:ea typeface="Arial"/>
                <a:cs typeface="Arial"/>
              </a:defRPr>
            </a:lvl7pPr>
            <a:lvl8pPr>
              <a:defRPr sz="1950" b="0">
                <a:solidFill>
                  <a:srgbClr val="182C40"/>
                </a:solidFill>
                <a:latin typeface="Arial"/>
                <a:ea typeface="Arial"/>
                <a:cs typeface="Arial"/>
              </a:defRPr>
            </a:lvl8pPr>
            <a:lvl9pPr>
              <a:defRPr sz="1950" b="0">
                <a:solidFill>
                  <a:srgbClr val="182C40"/>
                </a:solidFill>
                <a:latin typeface="Arial"/>
                <a:ea typeface="Arial"/>
                <a:cs typeface="Arial"/>
              </a:defRPr>
            </a:lvl9pPr>
          </a:lstStyle>
          <a:p xmlns:a="http://schemas.openxmlformats.org/drawingml/2006/main">
            <a:pPr>
              <a:defRPr sz="1950" b="0">
                <a:solidFill>
                  <a:srgbClr val="182C40"/>
                </a:solidFill>
                <a:latin typeface="Arial"/>
                <a:ea typeface="Arial"/>
                <a:cs typeface="Arial"/>
              </a:defRPr>
            </a:pPr>
            <a:r>
              <a:rPr sz="1950" b="0">
                <a:solidFill>
                  <a:srgbClr val="182C40"/>
                </a:solidFill>
                <a:latin typeface="Arial"/>
                <a:ea typeface="Arial"/>
                <a:cs typeface="Arial"/>
              </a:rPr>
              <a:t>PC-02: SE cần đồng bộ BPMN, state Reopened và SLA sau mở lại trước khi chốt baseline</a:t>
            </a:r>
          </a:p>
        </p:txBody>
      </p:sp>
    </p:spTree>
    <p:extLst>
      <p:ext uri="{BB962C8B-B14F-4D97-AF65-F5344CB8AC3E}">
        <p14:creationId xmlns:p14="http://schemas.microsoft.com/office/powerpoint/2010/main" val="1934825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CA761DA-C86C-4648-B646-78F793B97FF2}"/>
              </a:ext>
            </a:extLst>
          </p:cNvPr>
          <p:cNvCxnSpPr>
            <a:stCxn xmlns:a="http://schemas.openxmlformats.org/drawingml/2006/main" id="17" idx="3"/>
            <a:endCxn xmlns:a="http://schemas.openxmlformats.org/drawingml/2006/main" id="18" idx="1"/>
          </p:cNvCxnSpPr>
          <p:nvPr/>
        </p:nvCxnSpPr>
        <p:spPr>
          <a:xfrm xmlns:a="http://schemas.openxmlformats.org/drawingml/2006/main">
            <a:off x="9810750" y="4738688"/>
            <a:ext cx="333375"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3" name="">
            <a:extLst xmlns:a="http://schemas.openxmlformats.org/drawingml/2006/main">
              <a:ext uri="{FF2B5EF4-FFF2-40B4-BE49-F238E27FC236}">
                <a16:creationId xmlns:a16="http://schemas.microsoft.com/office/drawing/2014/main" id="{B5DEDD55-6358-48D4-BACE-C4DC4A83D4A1}"/>
              </a:ext>
            </a:extLst>
          </p:cNvPr>
          <p:cNvCxnSpPr>
            <a:stCxn xmlns:a="http://schemas.openxmlformats.org/drawingml/2006/main" id="11" idx="3"/>
            <a:endCxn xmlns:a="http://schemas.openxmlformats.org/drawingml/2006/main" id="17" idx="1"/>
          </p:cNvCxnSpPr>
          <p:nvPr/>
        </p:nvCxnSpPr>
        <p:spPr>
          <a:xfrm xmlns:a="http://schemas.openxmlformats.org/drawingml/2006/main">
            <a:off x="7048500" y="2309813"/>
            <a:ext cx="1047750" cy="2428875"/>
          </a:xfrm>
          <a:prstGeom xmlns:a="http://schemas.openxmlformats.org/drawingml/2006/main" prst="bentConnector3">
            <a:avLst>
              <a:gd name="adj1" fmla="val 50000"/>
            </a:avLst>
          </a:prstGeom>
          <a:ln xmlns:a="http://schemas.openxmlformats.org/drawingml/2006/main" w="19050">
            <a:solidFill>
              <a:srgbClr val="087F8C"/>
            </a:solidFill>
            <a:tailEnd type="triangle" w="med" len="med"/>
          </a:ln>
        </p:spPr>
      </p:cxnSp>
      <p:cxnSp>
        <p:nvCxnSpPr>
          <p:cNvPr id="4" name="">
            <a:extLst xmlns:a="http://schemas.openxmlformats.org/drawingml/2006/main">
              <a:ext uri="{FF2B5EF4-FFF2-40B4-BE49-F238E27FC236}">
                <a16:creationId xmlns:a16="http://schemas.microsoft.com/office/drawing/2014/main" id="{C0FD25B8-0BB4-4E54-AB48-D9CF34026F77}"/>
              </a:ext>
            </a:extLst>
          </p:cNvPr>
          <p:cNvCxnSpPr>
            <a:stCxn xmlns:a="http://schemas.openxmlformats.org/drawingml/2006/main" id="11" idx="2"/>
            <a:endCxn xmlns:a="http://schemas.openxmlformats.org/drawingml/2006/main" id="16" idx="0"/>
          </p:cNvCxnSpPr>
          <p:nvPr/>
        </p:nvCxnSpPr>
        <p:spPr>
          <a:xfrm xmlns:a="http://schemas.openxmlformats.org/drawingml/2006/main">
            <a:off x="5362575" y="2809875"/>
            <a:ext cx="661988" cy="1428750"/>
          </a:xfrm>
          <a:prstGeom xmlns:a="http://schemas.openxmlformats.org/drawingml/2006/main" prst="bentConnector4">
            <a:avLst/>
          </a:prstGeom>
          <a:ln xmlns:a="http://schemas.openxmlformats.org/drawingml/2006/main" w="19050">
            <a:solidFill>
              <a:srgbClr val="087F8C"/>
            </a:solidFill>
            <a:headEnd type="triangle" w="med" len="med"/>
            <a:tailEnd type="triangle" w="med" len="med"/>
          </a:ln>
        </p:spPr>
      </p:cxnSp>
      <p:cxnSp>
        <p:nvCxnSpPr>
          <p:cNvPr id="5" name="">
            <a:extLst xmlns:a="http://schemas.openxmlformats.org/drawingml/2006/main">
              <a:ext uri="{FF2B5EF4-FFF2-40B4-BE49-F238E27FC236}">
                <a16:creationId xmlns:a16="http://schemas.microsoft.com/office/drawing/2014/main" id="{F7EEF79F-9B38-45DC-A3FB-FC965921F262}"/>
              </a:ext>
            </a:extLst>
          </p:cNvPr>
          <p:cNvCxnSpPr>
            <a:stCxn xmlns:a="http://schemas.openxmlformats.org/drawingml/2006/main" id="11" idx="3"/>
            <a:endCxn xmlns:a="http://schemas.openxmlformats.org/drawingml/2006/main" id="12" idx="1"/>
          </p:cNvCxnSpPr>
          <p:nvPr/>
        </p:nvCxnSpPr>
        <p:spPr>
          <a:xfrm xmlns:a="http://schemas.openxmlformats.org/drawingml/2006/main">
            <a:off x="7048500" y="2309813"/>
            <a:ext cx="2143125" cy="0"/>
          </a:xfrm>
          <a:prstGeom xmlns:a="http://schemas.openxmlformats.org/drawingml/2006/main" prst="straightConnector1">
            <a:avLst/>
          </a:prstGeom>
          <a:ln xmlns:a="http://schemas.openxmlformats.org/drawingml/2006/main" w="19050">
            <a:solidFill>
              <a:srgbClr val="087F8C"/>
            </a:solidFill>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D8B0F0F6-C1E3-4D2F-A9AA-3683071DA1B2}"/>
              </a:ext>
            </a:extLst>
          </p:cNvPr>
          <p:cNvCxnSpPr>
            <a:stCxn xmlns:a="http://schemas.openxmlformats.org/drawingml/2006/main" id="10" idx="3"/>
            <a:endCxn xmlns:a="http://schemas.openxmlformats.org/drawingml/2006/main" id="11" idx="1"/>
          </p:cNvCxnSpPr>
          <p:nvPr/>
        </p:nvCxnSpPr>
        <p:spPr>
          <a:xfrm xmlns:a="http://schemas.openxmlformats.org/drawingml/2006/main">
            <a:off x="4286250" y="2309813"/>
            <a:ext cx="714375" cy="0"/>
          </a:xfrm>
          <a:prstGeom xmlns:a="http://schemas.openxmlformats.org/drawingml/2006/main" prst="straightConnector1">
            <a:avLst/>
          </a:prstGeom>
          <a:ln xmlns:a="http://schemas.openxmlformats.org/drawingml/2006/main" w="19050">
            <a:solidFill>
              <a:srgbClr val="087F8C"/>
            </a:solidFill>
            <a:tailEnd type="triangle" w="med" len="med"/>
          </a:ln>
        </p:spPr>
      </p:cxnSp>
      <p:cxnSp>
        <p:nvCxnSpPr>
          <p:cNvPr id="7" name="">
            <a:extLst xmlns:a="http://schemas.openxmlformats.org/drawingml/2006/main">
              <a:ext uri="{FF2B5EF4-FFF2-40B4-BE49-F238E27FC236}">
                <a16:creationId xmlns:a16="http://schemas.microsoft.com/office/drawing/2014/main" id="{45BE1571-55E0-4330-AEA3-03DD877C5080}"/>
              </a:ext>
            </a:extLst>
          </p:cNvPr>
          <p:cNvCxnSpPr>
            <a:stCxn xmlns:a="http://schemas.openxmlformats.org/drawingml/2006/main" id="9" idx="3"/>
            <a:endCxn xmlns:a="http://schemas.openxmlformats.org/drawingml/2006/main" id="10" idx="1"/>
          </p:cNvCxnSpPr>
          <p:nvPr/>
        </p:nvCxnSpPr>
        <p:spPr>
          <a:xfrm xmlns:a="http://schemas.openxmlformats.org/drawingml/2006/main">
            <a:off x="2095500" y="2309813"/>
            <a:ext cx="571500" cy="0"/>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8" name="">
            <a:extLst xmlns:a="http://schemas.openxmlformats.org/drawingml/2006/main">
              <a:ext uri="{FF2B5EF4-FFF2-40B4-BE49-F238E27FC236}">
                <a16:creationId xmlns:a16="http://schemas.microsoft.com/office/drawing/2014/main" id="{84B18DC9-CB82-4D5D-B520-85BD55F5277F}"/>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Kiến trúc và ranh giới tin cậy</a:t>
            </a:r>
          </a:p>
        </p:txBody>
      </p:sp>
      <p:sp>
        <p:nvSpPr>
          <p:cNvPr id="9" name="">
            <a:extLst xmlns:a="http://schemas.openxmlformats.org/drawingml/2006/main">
              <a:ext uri="{FF2B5EF4-FFF2-40B4-BE49-F238E27FC236}">
                <a16:creationId xmlns:a16="http://schemas.microsoft.com/office/drawing/2014/main" id="{D7BD7CBC-3597-4328-99A2-988A3A224F8E}"/>
              </a:ext>
            </a:extLst>
          </p:cNvPr>
          <p:cNvSpPr>
            <a:spLocks xmlns:a="http://schemas.openxmlformats.org/drawingml/2006/main" noGrp="1"/>
          </p:cNvSpPr>
          <p:nvPr/>
        </p:nvSpPr>
        <p:spPr>
          <a:xfrm xmlns:a="http://schemas.openxmlformats.org/drawingml/2006/main">
            <a:off x="428625" y="1809750"/>
            <a:ext cx="1666875"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E1</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Trình duyệt</a:t>
            </a:r>
          </a:p>
        </p:txBody>
      </p:sp>
      <p:sp>
        <p:nvSpPr>
          <p:cNvPr id="10" name="">
            <a:extLst xmlns:a="http://schemas.openxmlformats.org/drawingml/2006/main">
              <a:ext uri="{FF2B5EF4-FFF2-40B4-BE49-F238E27FC236}">
                <a16:creationId xmlns:a16="http://schemas.microsoft.com/office/drawing/2014/main" id="{573167A8-D1B3-4E61-9AEA-EE80D13FF3E9}"/>
              </a:ext>
            </a:extLst>
          </p:cNvPr>
          <p:cNvSpPr>
            <a:spLocks xmlns:a="http://schemas.openxmlformats.org/drawingml/2006/main" noGrp="1"/>
          </p:cNvSpPr>
          <p:nvPr/>
        </p:nvSpPr>
        <p:spPr>
          <a:xfrm xmlns:a="http://schemas.openxmlformats.org/drawingml/2006/main">
            <a:off x="2667000" y="1809750"/>
            <a:ext cx="1619250"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P0</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Nginx TLS</a:t>
            </a:r>
          </a:p>
        </p:txBody>
      </p:sp>
      <p:sp>
        <p:nvSpPr>
          <p:cNvPr id="11" name="">
            <a:extLst xmlns:a="http://schemas.openxmlformats.org/drawingml/2006/main">
              <a:ext uri="{FF2B5EF4-FFF2-40B4-BE49-F238E27FC236}">
                <a16:creationId xmlns:a16="http://schemas.microsoft.com/office/drawing/2014/main" id="{A2735F42-2EFB-4BCE-9080-B2BF905B2031}"/>
              </a:ext>
            </a:extLst>
          </p:cNvPr>
          <p:cNvSpPr>
            <a:spLocks xmlns:a="http://schemas.openxmlformats.org/drawingml/2006/main" noGrp="1"/>
          </p:cNvSpPr>
          <p:nvPr/>
        </p:nvSpPr>
        <p:spPr>
          <a:xfrm xmlns:a="http://schemas.openxmlformats.org/drawingml/2006/main">
            <a:off x="5000625" y="1809750"/>
            <a:ext cx="2047875"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P1</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Spring Boot</a:t>
            </a:r>
          </a:p>
        </p:txBody>
      </p:sp>
      <p:sp>
        <p:nvSpPr>
          <p:cNvPr id="12" name="">
            <a:extLst xmlns:a="http://schemas.openxmlformats.org/drawingml/2006/main">
              <a:ext uri="{FF2B5EF4-FFF2-40B4-BE49-F238E27FC236}">
                <a16:creationId xmlns:a16="http://schemas.microsoft.com/office/drawing/2014/main" id="{B3414F3E-3C53-4B9C-AE13-CB055A7F5671}"/>
              </a:ext>
            </a:extLst>
          </p:cNvPr>
          <p:cNvSpPr>
            <a:spLocks xmlns:a="http://schemas.openxmlformats.org/drawingml/2006/main" noGrp="1"/>
          </p:cNvSpPr>
          <p:nvPr/>
        </p:nvSpPr>
        <p:spPr>
          <a:xfrm xmlns:a="http://schemas.openxmlformats.org/drawingml/2006/main">
            <a:off x="9191625" y="1809750"/>
            <a:ext cx="2333625"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D1</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PostgreSQL 16</a:t>
            </a:r>
          </a:p>
        </p:txBody>
      </p:sp>
      <p:sp>
        <p:nvSpPr>
          <p:cNvPr id="13" name="">
            <a:extLst xmlns:a="http://schemas.openxmlformats.org/drawingml/2006/main">
              <a:ext uri="{FF2B5EF4-FFF2-40B4-BE49-F238E27FC236}">
                <a16:creationId xmlns:a16="http://schemas.microsoft.com/office/drawing/2014/main" id="{C9E90B38-0B47-44B5-B9E9-D18B00C44FA6}"/>
              </a:ext>
            </a:extLst>
          </p:cNvPr>
          <p:cNvSpPr>
            <a:spLocks xmlns:a="http://schemas.openxmlformats.org/drawingml/2006/main" noGrp="1"/>
          </p:cNvSpPr>
          <p:nvPr/>
        </p:nvSpPr>
        <p:spPr>
          <a:xfrm xmlns:a="http://schemas.openxmlformats.org/drawingml/2006/main">
            <a:off x="2076450" y="1285875"/>
            <a:ext cx="1219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87F8C"/>
                </a:solidFill>
                <a:latin typeface="Arial"/>
                <a:ea typeface="Arial"/>
                <a:cs typeface="Arial"/>
              </a:defRPr>
            </a:defPPr>
            <a:lvl1pPr>
              <a:defRPr sz="1725" b="0">
                <a:solidFill>
                  <a:srgbClr val="087F8C"/>
                </a:solidFill>
                <a:latin typeface="Arial"/>
                <a:ea typeface="Arial"/>
                <a:cs typeface="Arial"/>
              </a:defRPr>
            </a:lvl1pPr>
            <a:lvl2pPr>
              <a:defRPr sz="1725" b="0">
                <a:solidFill>
                  <a:srgbClr val="087F8C"/>
                </a:solidFill>
                <a:latin typeface="Arial"/>
                <a:ea typeface="Arial"/>
                <a:cs typeface="Arial"/>
              </a:defRPr>
            </a:lvl2pPr>
            <a:lvl3pPr>
              <a:defRPr sz="1725" b="0">
                <a:solidFill>
                  <a:srgbClr val="087F8C"/>
                </a:solidFill>
                <a:latin typeface="Arial"/>
                <a:ea typeface="Arial"/>
                <a:cs typeface="Arial"/>
              </a:defRPr>
            </a:lvl3pPr>
            <a:lvl4pPr>
              <a:defRPr sz="1725" b="0">
                <a:solidFill>
                  <a:srgbClr val="087F8C"/>
                </a:solidFill>
                <a:latin typeface="Arial"/>
                <a:ea typeface="Arial"/>
                <a:cs typeface="Arial"/>
              </a:defRPr>
            </a:lvl4pPr>
            <a:lvl5pPr>
              <a:defRPr sz="1725" b="0">
                <a:solidFill>
                  <a:srgbClr val="087F8C"/>
                </a:solidFill>
                <a:latin typeface="Arial"/>
                <a:ea typeface="Arial"/>
                <a:cs typeface="Arial"/>
              </a:defRPr>
            </a:lvl5pPr>
            <a:lvl6pPr>
              <a:defRPr sz="1725" b="0">
                <a:solidFill>
                  <a:srgbClr val="087F8C"/>
                </a:solidFill>
                <a:latin typeface="Arial"/>
                <a:ea typeface="Arial"/>
                <a:cs typeface="Arial"/>
              </a:defRPr>
            </a:lvl6pPr>
            <a:lvl7pPr>
              <a:defRPr sz="1725" b="0">
                <a:solidFill>
                  <a:srgbClr val="087F8C"/>
                </a:solidFill>
                <a:latin typeface="Arial"/>
                <a:ea typeface="Arial"/>
                <a:cs typeface="Arial"/>
              </a:defRPr>
            </a:lvl7pPr>
            <a:lvl8pPr>
              <a:defRPr sz="1725" b="0">
                <a:solidFill>
                  <a:srgbClr val="087F8C"/>
                </a:solidFill>
                <a:latin typeface="Arial"/>
                <a:ea typeface="Arial"/>
                <a:cs typeface="Arial"/>
              </a:defRPr>
            </a:lvl8pPr>
            <a:lvl9pPr>
              <a:defRPr sz="1725" b="0">
                <a:solidFill>
                  <a:srgbClr val="087F8C"/>
                </a:solidFill>
                <a:latin typeface="Arial"/>
                <a:ea typeface="Arial"/>
                <a:cs typeface="Arial"/>
              </a:defRPr>
            </a:lvl9pPr>
          </a:lstStyle>
          <a:p xmlns:a="http://schemas.openxmlformats.org/drawingml/2006/main">
            <a:pPr>
              <a:defRPr sz="1725" b="0">
                <a:solidFill>
                  <a:srgbClr val="087F8C"/>
                </a:solidFill>
                <a:latin typeface="Arial"/>
                <a:ea typeface="Arial"/>
                <a:cs typeface="Arial"/>
              </a:defRPr>
            </a:pPr>
            <a:r>
              <a:rPr sz="1725" b="0">
                <a:solidFill>
                  <a:srgbClr val="087F8C"/>
                </a:solidFill>
                <a:latin typeface="Arial"/>
                <a:ea typeface="Arial"/>
                <a:cs typeface="Arial"/>
              </a:rPr>
              <a:t>F1 / TB1</a:t>
            </a:r>
          </a:p>
        </p:txBody>
      </p:sp>
      <p:sp>
        <p:nvSpPr>
          <p:cNvPr id="14" name="">
            <a:extLst xmlns:a="http://schemas.openxmlformats.org/drawingml/2006/main">
              <a:ext uri="{FF2B5EF4-FFF2-40B4-BE49-F238E27FC236}">
                <a16:creationId xmlns:a16="http://schemas.microsoft.com/office/drawing/2014/main" id="{A0B72BB0-7EAB-445E-9341-8558495CDA32}"/>
              </a:ext>
            </a:extLst>
          </p:cNvPr>
          <p:cNvSpPr>
            <a:spLocks xmlns:a="http://schemas.openxmlformats.org/drawingml/2006/main" noGrp="1"/>
          </p:cNvSpPr>
          <p:nvPr/>
        </p:nvSpPr>
        <p:spPr>
          <a:xfrm xmlns:a="http://schemas.openxmlformats.org/drawingml/2006/main">
            <a:off x="4286250" y="2000250"/>
            <a:ext cx="71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87F8C"/>
                </a:solidFill>
                <a:latin typeface="Arial"/>
                <a:ea typeface="Arial"/>
                <a:cs typeface="Arial"/>
              </a:defRPr>
            </a:defPPr>
            <a:lvl1pPr>
              <a:defRPr sz="1725" b="0">
                <a:solidFill>
                  <a:srgbClr val="087F8C"/>
                </a:solidFill>
                <a:latin typeface="Arial"/>
                <a:ea typeface="Arial"/>
                <a:cs typeface="Arial"/>
              </a:defRPr>
            </a:lvl1pPr>
            <a:lvl2pPr>
              <a:defRPr sz="1725" b="0">
                <a:solidFill>
                  <a:srgbClr val="087F8C"/>
                </a:solidFill>
                <a:latin typeface="Arial"/>
                <a:ea typeface="Arial"/>
                <a:cs typeface="Arial"/>
              </a:defRPr>
            </a:lvl2pPr>
            <a:lvl3pPr>
              <a:defRPr sz="1725" b="0">
                <a:solidFill>
                  <a:srgbClr val="087F8C"/>
                </a:solidFill>
                <a:latin typeface="Arial"/>
                <a:ea typeface="Arial"/>
                <a:cs typeface="Arial"/>
              </a:defRPr>
            </a:lvl3pPr>
            <a:lvl4pPr>
              <a:defRPr sz="1725" b="0">
                <a:solidFill>
                  <a:srgbClr val="087F8C"/>
                </a:solidFill>
                <a:latin typeface="Arial"/>
                <a:ea typeface="Arial"/>
                <a:cs typeface="Arial"/>
              </a:defRPr>
            </a:lvl4pPr>
            <a:lvl5pPr>
              <a:defRPr sz="1725" b="0">
                <a:solidFill>
                  <a:srgbClr val="087F8C"/>
                </a:solidFill>
                <a:latin typeface="Arial"/>
                <a:ea typeface="Arial"/>
                <a:cs typeface="Arial"/>
              </a:defRPr>
            </a:lvl5pPr>
            <a:lvl6pPr>
              <a:defRPr sz="1725" b="0">
                <a:solidFill>
                  <a:srgbClr val="087F8C"/>
                </a:solidFill>
                <a:latin typeface="Arial"/>
                <a:ea typeface="Arial"/>
                <a:cs typeface="Arial"/>
              </a:defRPr>
            </a:lvl6pPr>
            <a:lvl7pPr>
              <a:defRPr sz="1725" b="0">
                <a:solidFill>
                  <a:srgbClr val="087F8C"/>
                </a:solidFill>
                <a:latin typeface="Arial"/>
                <a:ea typeface="Arial"/>
                <a:cs typeface="Arial"/>
              </a:defRPr>
            </a:lvl7pPr>
            <a:lvl8pPr>
              <a:defRPr sz="1725" b="0">
                <a:solidFill>
                  <a:srgbClr val="087F8C"/>
                </a:solidFill>
                <a:latin typeface="Arial"/>
                <a:ea typeface="Arial"/>
                <a:cs typeface="Arial"/>
              </a:defRPr>
            </a:lvl8pPr>
            <a:lvl9pPr>
              <a:defRPr sz="1725" b="0">
                <a:solidFill>
                  <a:srgbClr val="087F8C"/>
                </a:solidFill>
                <a:latin typeface="Arial"/>
                <a:ea typeface="Arial"/>
                <a:cs typeface="Arial"/>
              </a:defRPr>
            </a:lvl9pPr>
          </a:lstStyle>
          <a:p xmlns:a="http://schemas.openxmlformats.org/drawingml/2006/main">
            <a:pPr>
              <a:defRPr sz="1725" b="0">
                <a:solidFill>
                  <a:srgbClr val="087F8C"/>
                </a:solidFill>
                <a:latin typeface="Arial"/>
                <a:ea typeface="Arial"/>
                <a:cs typeface="Arial"/>
              </a:defRPr>
            </a:pPr>
            <a:r>
              <a:rPr sz="1725" b="0">
                <a:solidFill>
                  <a:srgbClr val="087F8C"/>
                </a:solidFill>
                <a:latin typeface="Arial"/>
                <a:ea typeface="Arial"/>
                <a:cs typeface="Arial"/>
              </a:rPr>
              <a:t>F2</a:t>
            </a:r>
          </a:p>
        </p:txBody>
      </p:sp>
      <p:sp>
        <p:nvSpPr>
          <p:cNvPr id="15" name="">
            <a:extLst xmlns:a="http://schemas.openxmlformats.org/drawingml/2006/main">
              <a:ext uri="{FF2B5EF4-FFF2-40B4-BE49-F238E27FC236}">
                <a16:creationId xmlns:a16="http://schemas.microsoft.com/office/drawing/2014/main" id="{A337EBE4-0960-4882-BC2C-0D64E0ADFF23}"/>
              </a:ext>
            </a:extLst>
          </p:cNvPr>
          <p:cNvSpPr>
            <a:spLocks xmlns:a="http://schemas.openxmlformats.org/drawingml/2006/main" noGrp="1"/>
          </p:cNvSpPr>
          <p:nvPr/>
        </p:nvSpPr>
        <p:spPr>
          <a:xfrm xmlns:a="http://schemas.openxmlformats.org/drawingml/2006/main">
            <a:off x="7258050" y="1285875"/>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87F8C"/>
                </a:solidFill>
                <a:latin typeface="Arial"/>
                <a:ea typeface="Arial"/>
                <a:cs typeface="Arial"/>
              </a:defRPr>
            </a:defPPr>
            <a:lvl1pPr>
              <a:defRPr sz="1725" b="0">
                <a:solidFill>
                  <a:srgbClr val="087F8C"/>
                </a:solidFill>
                <a:latin typeface="Arial"/>
                <a:ea typeface="Arial"/>
                <a:cs typeface="Arial"/>
              </a:defRPr>
            </a:lvl1pPr>
            <a:lvl2pPr>
              <a:defRPr sz="1725" b="0">
                <a:solidFill>
                  <a:srgbClr val="087F8C"/>
                </a:solidFill>
                <a:latin typeface="Arial"/>
                <a:ea typeface="Arial"/>
                <a:cs typeface="Arial"/>
              </a:defRPr>
            </a:lvl2pPr>
            <a:lvl3pPr>
              <a:defRPr sz="1725" b="0">
                <a:solidFill>
                  <a:srgbClr val="087F8C"/>
                </a:solidFill>
                <a:latin typeface="Arial"/>
                <a:ea typeface="Arial"/>
                <a:cs typeface="Arial"/>
              </a:defRPr>
            </a:lvl3pPr>
            <a:lvl4pPr>
              <a:defRPr sz="1725" b="0">
                <a:solidFill>
                  <a:srgbClr val="087F8C"/>
                </a:solidFill>
                <a:latin typeface="Arial"/>
                <a:ea typeface="Arial"/>
                <a:cs typeface="Arial"/>
              </a:defRPr>
            </a:lvl4pPr>
            <a:lvl5pPr>
              <a:defRPr sz="1725" b="0">
                <a:solidFill>
                  <a:srgbClr val="087F8C"/>
                </a:solidFill>
                <a:latin typeface="Arial"/>
                <a:ea typeface="Arial"/>
                <a:cs typeface="Arial"/>
              </a:defRPr>
            </a:lvl5pPr>
            <a:lvl6pPr>
              <a:defRPr sz="1725" b="0">
                <a:solidFill>
                  <a:srgbClr val="087F8C"/>
                </a:solidFill>
                <a:latin typeface="Arial"/>
                <a:ea typeface="Arial"/>
                <a:cs typeface="Arial"/>
              </a:defRPr>
            </a:lvl6pPr>
            <a:lvl7pPr>
              <a:defRPr sz="1725" b="0">
                <a:solidFill>
                  <a:srgbClr val="087F8C"/>
                </a:solidFill>
                <a:latin typeface="Arial"/>
                <a:ea typeface="Arial"/>
                <a:cs typeface="Arial"/>
              </a:defRPr>
            </a:lvl7pPr>
            <a:lvl8pPr>
              <a:defRPr sz="1725" b="0">
                <a:solidFill>
                  <a:srgbClr val="087F8C"/>
                </a:solidFill>
                <a:latin typeface="Arial"/>
                <a:ea typeface="Arial"/>
                <a:cs typeface="Arial"/>
              </a:defRPr>
            </a:lvl8pPr>
            <a:lvl9pPr>
              <a:defRPr sz="1725" b="0">
                <a:solidFill>
                  <a:srgbClr val="087F8C"/>
                </a:solidFill>
                <a:latin typeface="Arial"/>
                <a:ea typeface="Arial"/>
                <a:cs typeface="Arial"/>
              </a:defRPr>
            </a:lvl9pPr>
          </a:lstStyle>
          <a:p xmlns:a="http://schemas.openxmlformats.org/drawingml/2006/main">
            <a:pPr>
              <a:defRPr sz="1725" b="0">
                <a:solidFill>
                  <a:srgbClr val="087F8C"/>
                </a:solidFill>
                <a:latin typeface="Arial"/>
                <a:ea typeface="Arial"/>
                <a:cs typeface="Arial"/>
              </a:defRPr>
            </a:pPr>
            <a:r>
              <a:rPr sz="1725" b="0">
                <a:solidFill>
                  <a:srgbClr val="087F8C"/>
                </a:solidFill>
                <a:latin typeface="Arial"/>
                <a:ea typeface="Arial"/>
                <a:cs typeface="Arial"/>
              </a:rPr>
              <a:t>F3/F4 (TB2)</a:t>
            </a:r>
          </a:p>
        </p:txBody>
      </p:sp>
      <p:sp>
        <p:nvSpPr>
          <p:cNvPr id="16" name="">
            <a:extLst xmlns:a="http://schemas.openxmlformats.org/drawingml/2006/main">
              <a:ext uri="{FF2B5EF4-FFF2-40B4-BE49-F238E27FC236}">
                <a16:creationId xmlns:a16="http://schemas.microsoft.com/office/drawing/2014/main" id="{A3FB723F-44CB-4F34-9134-95BA878F06F1}"/>
              </a:ext>
            </a:extLst>
          </p:cNvPr>
          <p:cNvSpPr>
            <a:spLocks xmlns:a="http://schemas.openxmlformats.org/drawingml/2006/main" noGrp="1"/>
          </p:cNvSpPr>
          <p:nvPr/>
        </p:nvSpPr>
        <p:spPr>
          <a:xfrm xmlns:a="http://schemas.openxmlformats.org/drawingml/2006/main">
            <a:off x="5000625" y="4238625"/>
            <a:ext cx="2047875"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D2</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Kho tệp</a:t>
            </a:r>
          </a:p>
        </p:txBody>
      </p:sp>
      <p:sp>
        <p:nvSpPr>
          <p:cNvPr id="17" name="">
            <a:extLst xmlns:a="http://schemas.openxmlformats.org/drawingml/2006/main">
              <a:ext uri="{FF2B5EF4-FFF2-40B4-BE49-F238E27FC236}">
                <a16:creationId xmlns:a16="http://schemas.microsoft.com/office/drawing/2014/main" id="{2F321168-9D0E-45DD-9E91-EDE4F83FAAE6}"/>
              </a:ext>
            </a:extLst>
          </p:cNvPr>
          <p:cNvSpPr>
            <a:spLocks xmlns:a="http://schemas.openxmlformats.org/drawingml/2006/main" noGrp="1"/>
          </p:cNvSpPr>
          <p:nvPr/>
        </p:nvSpPr>
        <p:spPr>
          <a:xfrm xmlns:a="http://schemas.openxmlformats.org/drawingml/2006/main">
            <a:off x="8096250" y="4238625"/>
            <a:ext cx="1714500"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D3</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Audit JSONL</a:t>
            </a:r>
          </a:p>
        </p:txBody>
      </p:sp>
      <p:sp>
        <p:nvSpPr>
          <p:cNvPr id="18" name="">
            <a:extLst xmlns:a="http://schemas.openxmlformats.org/drawingml/2006/main">
              <a:ext uri="{FF2B5EF4-FFF2-40B4-BE49-F238E27FC236}">
                <a16:creationId xmlns:a16="http://schemas.microsoft.com/office/drawing/2014/main" id="{A2AE78BF-1114-4DC6-AB1B-1F5F7EBF0D7F}"/>
              </a:ext>
            </a:extLst>
          </p:cNvPr>
          <p:cNvSpPr>
            <a:spLocks xmlns:a="http://schemas.openxmlformats.org/drawingml/2006/main" noGrp="1"/>
          </p:cNvSpPr>
          <p:nvPr/>
        </p:nvSpPr>
        <p:spPr>
          <a:xfrm xmlns:a="http://schemas.openxmlformats.org/drawingml/2006/main">
            <a:off x="10144125" y="4238625"/>
            <a:ext cx="1714500" cy="1000125"/>
          </a:xfrm>
          <a:prstGeom xmlns:a="http://schemas.openxmlformats.org/drawingml/2006/main" prst="rect">
            <a:avLst/>
          </a:prstGeom>
          <a:solidFill xmlns:a="http://schemas.openxmlformats.org/drawingml/2006/main">
            <a:srgbClr val="E8F1F7"/>
          </a:solidFill>
          <a:ln xmlns:a="http://schemas.openxmlformats.org/drawingml/2006/main" w="12383">
            <a:solidFill>
              <a:srgbClr val="173A5E"/>
            </a:solidFill>
          </a:ln>
        </p:spPr>
        <p:txBody>
          <a:bodyPr xmlns:a="http://schemas.openxmlformats.org/drawingml/2006/main"/>
          <a:lstStyle xmlns:a="http://schemas.openxmlformats.org/drawingml/2006/main">
            <a:defPPr>
              <a:defRPr sz="1950" b="1">
                <a:solidFill>
                  <a:srgbClr val="173A5E"/>
                </a:solidFill>
                <a:latin typeface="Arial"/>
                <a:ea typeface="Arial"/>
                <a:cs typeface="Arial"/>
              </a:defRPr>
            </a:defPPr>
            <a:lvl1pPr>
              <a:defRPr sz="1950" b="1">
                <a:solidFill>
                  <a:srgbClr val="173A5E"/>
                </a:solidFill>
                <a:latin typeface="Arial"/>
                <a:ea typeface="Arial"/>
                <a:cs typeface="Arial"/>
              </a:defRPr>
            </a:lvl1pPr>
            <a:lvl2pPr>
              <a:defRPr sz="1950" b="1">
                <a:solidFill>
                  <a:srgbClr val="173A5E"/>
                </a:solidFill>
                <a:latin typeface="Arial"/>
                <a:ea typeface="Arial"/>
                <a:cs typeface="Arial"/>
              </a:defRPr>
            </a:lvl2pPr>
            <a:lvl3pPr>
              <a:defRPr sz="1950" b="1">
                <a:solidFill>
                  <a:srgbClr val="173A5E"/>
                </a:solidFill>
                <a:latin typeface="Arial"/>
                <a:ea typeface="Arial"/>
                <a:cs typeface="Arial"/>
              </a:defRPr>
            </a:lvl3pPr>
            <a:lvl4pPr>
              <a:defRPr sz="1950" b="1">
                <a:solidFill>
                  <a:srgbClr val="173A5E"/>
                </a:solidFill>
                <a:latin typeface="Arial"/>
                <a:ea typeface="Arial"/>
                <a:cs typeface="Arial"/>
              </a:defRPr>
            </a:lvl4pPr>
            <a:lvl5pPr>
              <a:defRPr sz="1950" b="1">
                <a:solidFill>
                  <a:srgbClr val="173A5E"/>
                </a:solidFill>
                <a:latin typeface="Arial"/>
                <a:ea typeface="Arial"/>
                <a:cs typeface="Arial"/>
              </a:defRPr>
            </a:lvl5pPr>
            <a:lvl6pPr>
              <a:defRPr sz="1950" b="1">
                <a:solidFill>
                  <a:srgbClr val="173A5E"/>
                </a:solidFill>
                <a:latin typeface="Arial"/>
                <a:ea typeface="Arial"/>
                <a:cs typeface="Arial"/>
              </a:defRPr>
            </a:lvl6pPr>
            <a:lvl7pPr>
              <a:defRPr sz="1950" b="1">
                <a:solidFill>
                  <a:srgbClr val="173A5E"/>
                </a:solidFill>
                <a:latin typeface="Arial"/>
                <a:ea typeface="Arial"/>
                <a:cs typeface="Arial"/>
              </a:defRPr>
            </a:lvl7pPr>
            <a:lvl8pPr>
              <a:defRPr sz="1950" b="1">
                <a:solidFill>
                  <a:srgbClr val="173A5E"/>
                </a:solidFill>
                <a:latin typeface="Arial"/>
                <a:ea typeface="Arial"/>
                <a:cs typeface="Arial"/>
              </a:defRPr>
            </a:lvl8pPr>
            <a:lvl9pPr>
              <a:defRPr sz="1950" b="1">
                <a:solidFill>
                  <a:srgbClr val="173A5E"/>
                </a:solidFill>
                <a:latin typeface="Arial"/>
                <a:ea typeface="Arial"/>
                <a:cs typeface="Arial"/>
              </a:defRPr>
            </a:lvl9pPr>
          </a:lstStyle>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P2</a:t>
            </a:r>
          </a:p>
          <a:p xmlns:a="http://schemas.openxmlformats.org/drawingml/2006/main">
            <a:pPr>
              <a:defRPr sz="1950" b="1">
                <a:solidFill>
                  <a:srgbClr val="173A5E"/>
                </a:solidFill>
                <a:latin typeface="Arial"/>
                <a:ea typeface="Arial"/>
                <a:cs typeface="Arial"/>
              </a:defRPr>
            </a:pPr>
            <a:r>
              <a:rPr sz="1950" b="1">
                <a:solidFill>
                  <a:srgbClr val="173A5E"/>
                </a:solidFill>
                <a:latin typeface="Arial"/>
                <a:ea typeface="Arial"/>
                <a:cs typeface="Arial"/>
              </a:rPr>
              <a:t>Monitoring</a:t>
            </a:r>
          </a:p>
        </p:txBody>
      </p:sp>
      <p:sp>
        <p:nvSpPr>
          <p:cNvPr id="19" name="">
            <a:extLst xmlns:a="http://schemas.openxmlformats.org/drawingml/2006/main">
              <a:ext uri="{FF2B5EF4-FFF2-40B4-BE49-F238E27FC236}">
                <a16:creationId xmlns:a16="http://schemas.microsoft.com/office/drawing/2014/main" id="{7FC384BF-3978-4559-AE37-00764225546D}"/>
              </a:ext>
            </a:extLst>
          </p:cNvPr>
          <p:cNvSpPr>
            <a:spLocks xmlns:a="http://schemas.openxmlformats.org/drawingml/2006/main" noGrp="1"/>
          </p:cNvSpPr>
          <p:nvPr/>
        </p:nvSpPr>
        <p:spPr>
          <a:xfrm xmlns:a="http://schemas.openxmlformats.org/drawingml/2006/main">
            <a:off x="5476875" y="3381375"/>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C"/>
                </a:solidFill>
                <a:latin typeface="Arial"/>
                <a:ea typeface="Arial"/>
                <a:cs typeface="Arial"/>
              </a:defRPr>
            </a:defPPr>
            <a:lvl1pPr>
              <a:defRPr sz="1800" b="0">
                <a:solidFill>
                  <a:srgbClr val="087F8C"/>
                </a:solidFill>
                <a:latin typeface="Arial"/>
                <a:ea typeface="Arial"/>
                <a:cs typeface="Arial"/>
              </a:defRPr>
            </a:lvl1pPr>
            <a:lvl2pPr>
              <a:defRPr sz="1800" b="0">
                <a:solidFill>
                  <a:srgbClr val="087F8C"/>
                </a:solidFill>
                <a:latin typeface="Arial"/>
                <a:ea typeface="Arial"/>
                <a:cs typeface="Arial"/>
              </a:defRPr>
            </a:lvl2pPr>
            <a:lvl3pPr>
              <a:defRPr sz="1800" b="0">
                <a:solidFill>
                  <a:srgbClr val="087F8C"/>
                </a:solidFill>
                <a:latin typeface="Arial"/>
                <a:ea typeface="Arial"/>
                <a:cs typeface="Arial"/>
              </a:defRPr>
            </a:lvl3pPr>
            <a:lvl4pPr>
              <a:defRPr sz="1800" b="0">
                <a:solidFill>
                  <a:srgbClr val="087F8C"/>
                </a:solidFill>
                <a:latin typeface="Arial"/>
                <a:ea typeface="Arial"/>
                <a:cs typeface="Arial"/>
              </a:defRPr>
            </a:lvl4pPr>
            <a:lvl5pPr>
              <a:defRPr sz="1800" b="0">
                <a:solidFill>
                  <a:srgbClr val="087F8C"/>
                </a:solidFill>
                <a:latin typeface="Arial"/>
                <a:ea typeface="Arial"/>
                <a:cs typeface="Arial"/>
              </a:defRPr>
            </a:lvl5pPr>
            <a:lvl6pPr>
              <a:defRPr sz="1800" b="0">
                <a:solidFill>
                  <a:srgbClr val="087F8C"/>
                </a:solidFill>
                <a:latin typeface="Arial"/>
                <a:ea typeface="Arial"/>
                <a:cs typeface="Arial"/>
              </a:defRPr>
            </a:lvl6pPr>
            <a:lvl7pPr>
              <a:defRPr sz="1800" b="0">
                <a:solidFill>
                  <a:srgbClr val="087F8C"/>
                </a:solidFill>
                <a:latin typeface="Arial"/>
                <a:ea typeface="Arial"/>
                <a:cs typeface="Arial"/>
              </a:defRPr>
            </a:lvl7pPr>
            <a:lvl8pPr>
              <a:defRPr sz="1800" b="0">
                <a:solidFill>
                  <a:srgbClr val="087F8C"/>
                </a:solidFill>
                <a:latin typeface="Arial"/>
                <a:ea typeface="Arial"/>
                <a:cs typeface="Arial"/>
              </a:defRPr>
            </a:lvl8pPr>
            <a:lvl9pPr>
              <a:defRPr sz="1800" b="0">
                <a:solidFill>
                  <a:srgbClr val="087F8C"/>
                </a:solidFill>
                <a:latin typeface="Arial"/>
                <a:ea typeface="Arial"/>
                <a:cs typeface="Arial"/>
              </a:defRPr>
            </a:lvl9pPr>
          </a:lstStyle>
          <a:p xmlns:a="http://schemas.openxmlformats.org/drawingml/2006/main">
            <a:pPr>
              <a:defRPr sz="1800" b="0">
                <a:solidFill>
                  <a:srgbClr val="087F8C"/>
                </a:solidFill>
                <a:latin typeface="Arial"/>
                <a:ea typeface="Arial"/>
                <a:cs typeface="Arial"/>
              </a:defRPr>
            </a:pPr>
            <a:r>
              <a:rPr sz="1800" b="0">
                <a:solidFill>
                  <a:srgbClr val="087F8C"/>
                </a:solidFill>
                <a:latin typeface="Arial"/>
                <a:ea typeface="Arial"/>
                <a:cs typeface="Arial"/>
              </a:rPr>
              <a:t>F5/F6</a:t>
            </a:r>
          </a:p>
        </p:txBody>
      </p:sp>
      <p:sp>
        <p:nvSpPr>
          <p:cNvPr id="20" name="">
            <a:extLst xmlns:a="http://schemas.openxmlformats.org/drawingml/2006/main">
              <a:ext uri="{FF2B5EF4-FFF2-40B4-BE49-F238E27FC236}">
                <a16:creationId xmlns:a16="http://schemas.microsoft.com/office/drawing/2014/main" id="{D242F547-2BE2-4E6C-AEFB-C6795C6A0716}"/>
              </a:ext>
            </a:extLst>
          </p:cNvPr>
          <p:cNvSpPr>
            <a:spLocks xmlns:a="http://schemas.openxmlformats.org/drawingml/2006/main" noGrp="1"/>
          </p:cNvSpPr>
          <p:nvPr/>
        </p:nvSpPr>
        <p:spPr>
          <a:xfrm xmlns:a="http://schemas.openxmlformats.org/drawingml/2006/main">
            <a:off x="7181850" y="35718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C"/>
                </a:solidFill>
                <a:latin typeface="Arial"/>
                <a:ea typeface="Arial"/>
                <a:cs typeface="Arial"/>
              </a:defRPr>
            </a:defPPr>
            <a:lvl1pPr>
              <a:defRPr sz="1800" b="0">
                <a:solidFill>
                  <a:srgbClr val="087F8C"/>
                </a:solidFill>
                <a:latin typeface="Arial"/>
                <a:ea typeface="Arial"/>
                <a:cs typeface="Arial"/>
              </a:defRPr>
            </a:lvl1pPr>
            <a:lvl2pPr>
              <a:defRPr sz="1800" b="0">
                <a:solidFill>
                  <a:srgbClr val="087F8C"/>
                </a:solidFill>
                <a:latin typeface="Arial"/>
                <a:ea typeface="Arial"/>
                <a:cs typeface="Arial"/>
              </a:defRPr>
            </a:lvl2pPr>
            <a:lvl3pPr>
              <a:defRPr sz="1800" b="0">
                <a:solidFill>
                  <a:srgbClr val="087F8C"/>
                </a:solidFill>
                <a:latin typeface="Arial"/>
                <a:ea typeface="Arial"/>
                <a:cs typeface="Arial"/>
              </a:defRPr>
            </a:lvl3pPr>
            <a:lvl4pPr>
              <a:defRPr sz="1800" b="0">
                <a:solidFill>
                  <a:srgbClr val="087F8C"/>
                </a:solidFill>
                <a:latin typeface="Arial"/>
                <a:ea typeface="Arial"/>
                <a:cs typeface="Arial"/>
              </a:defRPr>
            </a:lvl4pPr>
            <a:lvl5pPr>
              <a:defRPr sz="1800" b="0">
                <a:solidFill>
                  <a:srgbClr val="087F8C"/>
                </a:solidFill>
                <a:latin typeface="Arial"/>
                <a:ea typeface="Arial"/>
                <a:cs typeface="Arial"/>
              </a:defRPr>
            </a:lvl5pPr>
            <a:lvl6pPr>
              <a:defRPr sz="1800" b="0">
                <a:solidFill>
                  <a:srgbClr val="087F8C"/>
                </a:solidFill>
                <a:latin typeface="Arial"/>
                <a:ea typeface="Arial"/>
                <a:cs typeface="Arial"/>
              </a:defRPr>
            </a:lvl6pPr>
            <a:lvl7pPr>
              <a:defRPr sz="1800" b="0">
                <a:solidFill>
                  <a:srgbClr val="087F8C"/>
                </a:solidFill>
                <a:latin typeface="Arial"/>
                <a:ea typeface="Arial"/>
                <a:cs typeface="Arial"/>
              </a:defRPr>
            </a:lvl7pPr>
            <a:lvl8pPr>
              <a:defRPr sz="1800" b="0">
                <a:solidFill>
                  <a:srgbClr val="087F8C"/>
                </a:solidFill>
                <a:latin typeface="Arial"/>
                <a:ea typeface="Arial"/>
                <a:cs typeface="Arial"/>
              </a:defRPr>
            </a:lvl8pPr>
            <a:lvl9pPr>
              <a:defRPr sz="1800" b="0">
                <a:solidFill>
                  <a:srgbClr val="087F8C"/>
                </a:solidFill>
                <a:latin typeface="Arial"/>
                <a:ea typeface="Arial"/>
                <a:cs typeface="Arial"/>
              </a:defRPr>
            </a:lvl9pPr>
          </a:lstStyle>
          <a:p xmlns:a="http://schemas.openxmlformats.org/drawingml/2006/main">
            <a:pPr>
              <a:defRPr sz="1800" b="0">
                <a:solidFill>
                  <a:srgbClr val="087F8C"/>
                </a:solidFill>
                <a:latin typeface="Arial"/>
                <a:ea typeface="Arial"/>
                <a:cs typeface="Arial"/>
              </a:defRPr>
            </a:pPr>
            <a:r>
              <a:rPr sz="1800" b="0">
                <a:solidFill>
                  <a:srgbClr val="087F8C"/>
                </a:solidFill>
                <a:latin typeface="Arial"/>
                <a:ea typeface="Arial"/>
                <a:cs typeface="Arial"/>
              </a:rPr>
              <a:t>F7 (TB3)</a:t>
            </a:r>
          </a:p>
        </p:txBody>
      </p:sp>
      <p:sp>
        <p:nvSpPr>
          <p:cNvPr id="21" name="">
            <a:extLst xmlns:a="http://schemas.openxmlformats.org/drawingml/2006/main">
              <a:ext uri="{FF2B5EF4-FFF2-40B4-BE49-F238E27FC236}">
                <a16:creationId xmlns:a16="http://schemas.microsoft.com/office/drawing/2014/main" id="{45727F21-BF5E-405A-9414-A787ECDDEE47}"/>
              </a:ext>
            </a:extLst>
          </p:cNvPr>
          <p:cNvSpPr>
            <a:spLocks xmlns:a="http://schemas.openxmlformats.org/drawingml/2006/main" noGrp="1"/>
          </p:cNvSpPr>
          <p:nvPr/>
        </p:nvSpPr>
        <p:spPr>
          <a:xfrm xmlns:a="http://schemas.openxmlformats.org/drawingml/2006/main">
            <a:off x="9858375" y="3733800"/>
            <a:ext cx="90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C"/>
                </a:solidFill>
                <a:latin typeface="Arial"/>
                <a:ea typeface="Arial"/>
                <a:cs typeface="Arial"/>
              </a:defRPr>
            </a:defPPr>
            <a:lvl1pPr>
              <a:defRPr sz="1800" b="0">
                <a:solidFill>
                  <a:srgbClr val="087F8C"/>
                </a:solidFill>
                <a:latin typeface="Arial"/>
                <a:ea typeface="Arial"/>
                <a:cs typeface="Arial"/>
              </a:defRPr>
            </a:lvl1pPr>
            <a:lvl2pPr>
              <a:defRPr sz="1800" b="0">
                <a:solidFill>
                  <a:srgbClr val="087F8C"/>
                </a:solidFill>
                <a:latin typeface="Arial"/>
                <a:ea typeface="Arial"/>
                <a:cs typeface="Arial"/>
              </a:defRPr>
            </a:lvl2pPr>
            <a:lvl3pPr>
              <a:defRPr sz="1800" b="0">
                <a:solidFill>
                  <a:srgbClr val="087F8C"/>
                </a:solidFill>
                <a:latin typeface="Arial"/>
                <a:ea typeface="Arial"/>
                <a:cs typeface="Arial"/>
              </a:defRPr>
            </a:lvl3pPr>
            <a:lvl4pPr>
              <a:defRPr sz="1800" b="0">
                <a:solidFill>
                  <a:srgbClr val="087F8C"/>
                </a:solidFill>
                <a:latin typeface="Arial"/>
                <a:ea typeface="Arial"/>
                <a:cs typeface="Arial"/>
              </a:defRPr>
            </a:lvl4pPr>
            <a:lvl5pPr>
              <a:defRPr sz="1800" b="0">
                <a:solidFill>
                  <a:srgbClr val="087F8C"/>
                </a:solidFill>
                <a:latin typeface="Arial"/>
                <a:ea typeface="Arial"/>
                <a:cs typeface="Arial"/>
              </a:defRPr>
            </a:lvl5pPr>
            <a:lvl6pPr>
              <a:defRPr sz="1800" b="0">
                <a:solidFill>
                  <a:srgbClr val="087F8C"/>
                </a:solidFill>
                <a:latin typeface="Arial"/>
                <a:ea typeface="Arial"/>
                <a:cs typeface="Arial"/>
              </a:defRPr>
            </a:lvl6pPr>
            <a:lvl7pPr>
              <a:defRPr sz="1800" b="0">
                <a:solidFill>
                  <a:srgbClr val="087F8C"/>
                </a:solidFill>
                <a:latin typeface="Arial"/>
                <a:ea typeface="Arial"/>
                <a:cs typeface="Arial"/>
              </a:defRPr>
            </a:lvl7pPr>
            <a:lvl8pPr>
              <a:defRPr sz="1800" b="0">
                <a:solidFill>
                  <a:srgbClr val="087F8C"/>
                </a:solidFill>
                <a:latin typeface="Arial"/>
                <a:ea typeface="Arial"/>
                <a:cs typeface="Arial"/>
              </a:defRPr>
            </a:lvl8pPr>
            <a:lvl9pPr>
              <a:defRPr sz="1800" b="0">
                <a:solidFill>
                  <a:srgbClr val="087F8C"/>
                </a:solidFill>
                <a:latin typeface="Arial"/>
                <a:ea typeface="Arial"/>
                <a:cs typeface="Arial"/>
              </a:defRPr>
            </a:lvl9pPr>
          </a:lstStyle>
          <a:p xmlns:a="http://schemas.openxmlformats.org/drawingml/2006/main">
            <a:pPr>
              <a:defRPr sz="1800" b="0">
                <a:solidFill>
                  <a:srgbClr val="087F8C"/>
                </a:solidFill>
                <a:latin typeface="Arial"/>
                <a:ea typeface="Arial"/>
                <a:cs typeface="Arial"/>
              </a:defRPr>
            </a:pPr>
            <a:r>
              <a:rPr sz="1800" b="0">
                <a:solidFill>
                  <a:srgbClr val="087F8C"/>
                </a:solidFill>
                <a:latin typeface="Arial"/>
                <a:ea typeface="Arial"/>
                <a:cs typeface="Arial"/>
              </a:rPr>
              <a:t>F8</a:t>
            </a:r>
          </a:p>
        </p:txBody>
      </p:sp>
      <p:sp>
        <p:nvSpPr>
          <p:cNvPr id="22" name="">
            <a:extLst xmlns:a="http://schemas.openxmlformats.org/drawingml/2006/main">
              <a:ext uri="{FF2B5EF4-FFF2-40B4-BE49-F238E27FC236}">
                <a16:creationId xmlns:a16="http://schemas.microsoft.com/office/drawing/2014/main" id="{A72E1707-2350-466D-997E-3CC950B0DFC2}"/>
              </a:ext>
            </a:extLst>
          </p:cNvPr>
          <p:cNvSpPr>
            <a:spLocks xmlns:a="http://schemas.openxmlformats.org/drawingml/2006/main" noGrp="1"/>
          </p:cNvSpPr>
          <p:nvPr/>
        </p:nvSpPr>
        <p:spPr>
          <a:xfrm xmlns:a="http://schemas.openxmlformats.org/drawingml/2006/main">
            <a:off x="571500" y="56197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Backend ghi JSONL, Monitoring đọc để phát hiện và cảnh báo</a:t>
            </a:r>
          </a:p>
        </p:txBody>
      </p:sp>
      <p:sp>
        <p:nvSpPr>
          <p:cNvPr id="23" name="">
            <a:extLst xmlns:a="http://schemas.openxmlformats.org/drawingml/2006/main">
              <a:ext uri="{FF2B5EF4-FFF2-40B4-BE49-F238E27FC236}">
                <a16:creationId xmlns:a16="http://schemas.microsoft.com/office/drawing/2014/main" id="{F655E929-2396-4DAE-99EF-49577DC0DED3}"/>
              </a:ext>
            </a:extLst>
          </p:cNvPr>
          <p:cNvSpPr>
            <a:spLocks xmlns:a="http://schemas.openxmlformats.org/drawingml/2006/main" noGrp="1"/>
          </p:cNvSpPr>
          <p:nvPr/>
        </p:nvSpPr>
        <p:spPr>
          <a:xfrm xmlns:a="http://schemas.openxmlformats.org/drawingml/2006/main">
            <a:off x="571500" y="62579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2C40"/>
                </a:solidFill>
                <a:latin typeface="Arial"/>
                <a:ea typeface="Arial"/>
                <a:cs typeface="Arial"/>
              </a:defRPr>
            </a:defPPr>
            <a:lvl1pPr>
              <a:defRPr sz="1725" b="0">
                <a:solidFill>
                  <a:srgbClr val="182C40"/>
                </a:solidFill>
                <a:latin typeface="Arial"/>
                <a:ea typeface="Arial"/>
                <a:cs typeface="Arial"/>
              </a:defRPr>
            </a:lvl1pPr>
            <a:lvl2pPr>
              <a:defRPr sz="1725" b="0">
                <a:solidFill>
                  <a:srgbClr val="182C40"/>
                </a:solidFill>
                <a:latin typeface="Arial"/>
                <a:ea typeface="Arial"/>
                <a:cs typeface="Arial"/>
              </a:defRPr>
            </a:lvl2pPr>
            <a:lvl3pPr>
              <a:defRPr sz="1725" b="0">
                <a:solidFill>
                  <a:srgbClr val="182C40"/>
                </a:solidFill>
                <a:latin typeface="Arial"/>
                <a:ea typeface="Arial"/>
                <a:cs typeface="Arial"/>
              </a:defRPr>
            </a:lvl3pPr>
            <a:lvl4pPr>
              <a:defRPr sz="1725" b="0">
                <a:solidFill>
                  <a:srgbClr val="182C40"/>
                </a:solidFill>
                <a:latin typeface="Arial"/>
                <a:ea typeface="Arial"/>
                <a:cs typeface="Arial"/>
              </a:defRPr>
            </a:lvl4pPr>
            <a:lvl5pPr>
              <a:defRPr sz="1725" b="0">
                <a:solidFill>
                  <a:srgbClr val="182C40"/>
                </a:solidFill>
                <a:latin typeface="Arial"/>
                <a:ea typeface="Arial"/>
                <a:cs typeface="Arial"/>
              </a:defRPr>
            </a:lvl5pPr>
            <a:lvl6pPr>
              <a:defRPr sz="1725" b="0">
                <a:solidFill>
                  <a:srgbClr val="182C40"/>
                </a:solidFill>
                <a:latin typeface="Arial"/>
                <a:ea typeface="Arial"/>
                <a:cs typeface="Arial"/>
              </a:defRPr>
            </a:lvl6pPr>
            <a:lvl7pPr>
              <a:defRPr sz="1725" b="0">
                <a:solidFill>
                  <a:srgbClr val="182C40"/>
                </a:solidFill>
                <a:latin typeface="Arial"/>
                <a:ea typeface="Arial"/>
                <a:cs typeface="Arial"/>
              </a:defRPr>
            </a:lvl7pPr>
            <a:lvl8pPr>
              <a:defRPr sz="1725" b="0">
                <a:solidFill>
                  <a:srgbClr val="182C40"/>
                </a:solidFill>
                <a:latin typeface="Arial"/>
                <a:ea typeface="Arial"/>
                <a:cs typeface="Arial"/>
              </a:defRPr>
            </a:lvl8pPr>
            <a:lvl9pPr>
              <a:defRPr sz="1725" b="0">
                <a:solidFill>
                  <a:srgbClr val="182C40"/>
                </a:solidFill>
                <a:latin typeface="Arial"/>
                <a:ea typeface="Arial"/>
                <a:cs typeface="Arial"/>
              </a:defRPr>
            </a:lvl9pPr>
          </a:lstStyle>
          <a:p xmlns:a="http://schemas.openxmlformats.org/drawingml/2006/main">
            <a:pPr>
              <a:defRPr sz="1725" b="0">
                <a:solidFill>
                  <a:srgbClr val="182C40"/>
                </a:solidFill>
                <a:latin typeface="Arial"/>
                <a:ea typeface="Arial"/>
                <a:cs typeface="Arial"/>
              </a:defRPr>
            </a:pPr>
            <a:r>
              <a:rPr sz="1725" b="0">
                <a:solidFill>
                  <a:srgbClr val="182C40"/>
                </a:solidFill>
                <a:latin typeface="Arial"/>
                <a:ea typeface="Arial"/>
                <a:cs typeface="Arial"/>
              </a:rPr>
              <a:t>Thiết kế tham chiếu. Cấu hình deployment và lựa chọn công cụ còn chờ xác nhận</a:t>
            </a:r>
          </a:p>
        </p:txBody>
      </p:sp>
    </p:spTree>
    <p:extLst>
      <p:ext uri="{BB962C8B-B14F-4D97-AF65-F5344CB8AC3E}">
        <p14:creationId xmlns:p14="http://schemas.microsoft.com/office/powerpoint/2010/main" val="439188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3F47C83-F9CF-48BB-AB9F-5852783AEB1E}"/>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Threat model và kế hoạch kiểm thử</a:t>
            </a:r>
          </a:p>
        </p:txBody>
      </p:sp>
      <p:graphicFrame>
        <p:nvGraphicFramePr>
          <p:cNvPr id="3" name="">
            <a:extLst xmlns:a="http://schemas.openxmlformats.org/drawingml/2006/main">
              <a:ext uri="{FF2B5EF4-FFF2-40B4-BE49-F238E27FC236}">
                <a16:creationId xmlns:a16="http://schemas.microsoft.com/office/drawing/2014/main" id="{4EE3E338-8595-4B48-AE61-8DA9DE959A45}"/>
              </a:ext>
            </a:extLst>
          </p:cNvPr>
          <p:cNvGraphicFramePr/>
          <p:nvPr/>
        </p:nvGraphicFramePr>
        <p:xfrm>
          <a:off xmlns:a="http://schemas.openxmlformats.org/drawingml/2006/main" x="571500" y="1266825"/>
          <a:ext xmlns:a="http://schemas.openxmlformats.org/drawingml/2006/main" cx="10953750" cy="3857625"/>
        </p:xfrm>
        <a:graphic xmlns:a="http://schemas.openxmlformats.org/drawingml/2006/main">
          <a:graphicData uri="http://schemas.openxmlformats.org/drawingml/2006/table">
            <a:tbl>
              <a:tblPr/>
              <a:tblGrid>
                <a:gridCol w="3810000"/>
                <a:gridCol w="3429000"/>
                <a:gridCol w="3714750"/>
              </a:tblGrid>
              <a:tr h="551089">
                <a:tc>
                  <a:txBody>
                    <a:bodyPr/>
                    <a:lstStyle/>
                    <a:p>
                      <a:r>
                        <a:rPr sz="1875" b="1">
                          <a:solidFill>
                            <a:srgbClr val="FFFFFF"/>
                          </a:solidFill>
                          <a:latin typeface="Arial"/>
                          <a:ea typeface="Arial"/>
                          <a:cs typeface="Arial"/>
                        </a:rPr>
                        <a:t>Nhóm rủi ro</a:t>
                      </a:r>
                    </a:p>
                  </a:txBody>
                  <a:tcPr marL="91440" marR="91440" marT="45720" marB="45720">
                    <a:lnL w="9525">
                      <a:solidFill>
                        <a:srgbClr val="D0D9E1"/>
                      </a:solidFill>
                    </a:lnL>
                    <a:lnT w="9525">
                      <a:solidFill>
                        <a:srgbClr val="D0D9E1"/>
                      </a:solidFill>
                    </a:lnT>
                    <a:solidFill>
                      <a:srgbClr val="173A5E"/>
                    </a:solidFill>
                  </a:tcPr>
                </a:tc>
                <a:tc>
                  <a:txBody>
                    <a:bodyPr/>
                    <a:lstStyle/>
                    <a:p>
                      <a:r>
                        <a:rPr sz="1875" b="1">
                          <a:solidFill>
                            <a:srgbClr val="FFFFFF"/>
                          </a:solidFill>
                          <a:latin typeface="Arial"/>
                          <a:ea typeface="Arial"/>
                          <a:cs typeface="Arial"/>
                        </a:rPr>
                        <a:t>Threat ID</a:t>
                      </a:r>
                    </a:p>
                  </a:txBody>
                  <a:tcPr marL="91440" marR="91440" marT="45720" marB="45720">
                    <a:lnT w="9525">
                      <a:solidFill>
                        <a:srgbClr val="D0D9E1"/>
                      </a:solidFill>
                    </a:lnT>
                    <a:solidFill>
                      <a:srgbClr val="173A5E"/>
                    </a:solidFill>
                  </a:tcPr>
                </a:tc>
                <a:tc>
                  <a:txBody>
                    <a:bodyPr/>
                    <a:lstStyle/>
                    <a:p>
                      <a:r>
                        <a:rPr sz="1875" b="1">
                          <a:solidFill>
                            <a:srgbClr val="FFFFFF"/>
                          </a:solidFill>
                          <a:latin typeface="Arial"/>
                          <a:ea typeface="Arial"/>
                          <a:cs typeface="Arial"/>
                        </a:rPr>
                        <a:t>Test chính</a:t>
                      </a:r>
                    </a:p>
                  </a:txBody>
                  <a:tcPr marL="91440" marR="91440" marT="45720" marB="45720">
                    <a:lnR w="9525">
                      <a:solidFill>
                        <a:srgbClr val="D0D9E1"/>
                      </a:solidFill>
                    </a:lnR>
                    <a:lnT w="9525">
                      <a:solidFill>
                        <a:srgbClr val="D0D9E1"/>
                      </a:solidFill>
                    </a:lnT>
                    <a:solidFill>
                      <a:srgbClr val="173A5E"/>
                    </a:solidFill>
                  </a:tcPr>
                </a:tc>
              </a:tr>
              <a:tr h="551089">
                <a:tc>
                  <a:txBody>
                    <a:bodyPr/>
                    <a:lstStyle/>
                    <a:p>
                      <a:r>
                        <a:rPr sz="1875">
                          <a:solidFill>
                            <a:srgbClr val="182C40"/>
                          </a:solidFill>
                          <a:latin typeface="Arial"/>
                          <a:ea typeface="Arial"/>
                          <a:cs typeface="Arial"/>
                        </a:rPr>
                        <a:t>Tài khoản và token</a:t>
                      </a:r>
                    </a:p>
                  </a:txBody>
                  <a:tcPr marL="91440" marR="91440" marT="45720" marB="45720">
                    <a:lnL w="9525">
                      <a:solidFill>
                        <a:srgbClr val="D0D9E1"/>
                      </a:solidFill>
                    </a:lnL>
                    <a:solidFill>
                      <a:srgbClr val="FFFFFF"/>
                    </a:solidFill>
                  </a:tcPr>
                </a:tc>
                <a:tc>
                  <a:txBody>
                    <a:bodyPr/>
                    <a:lstStyle/>
                    <a:p>
                      <a:r>
                        <a:rPr sz="1875">
                          <a:solidFill>
                            <a:srgbClr val="182C40"/>
                          </a:solidFill>
                          <a:latin typeface="Arial"/>
                          <a:ea typeface="Arial"/>
                          <a:cs typeface="Arial"/>
                        </a:rPr>
                        <a:t>TH-01, TH-08</a:t>
                      </a:r>
                    </a:p>
                  </a:txBody>
                  <a:tcPr marL="91440" marR="91440" marT="45720" marB="45720">
                    <a:solidFill>
                      <a:srgbClr val="FFFFFF"/>
                    </a:solidFill>
                  </a:tcPr>
                </a:tc>
                <a:tc>
                  <a:txBody>
                    <a:bodyPr/>
                    <a:lstStyle/>
                    <a:p>
                      <a:r>
                        <a:rPr sz="1875">
                          <a:solidFill>
                            <a:srgbClr val="182C40"/>
                          </a:solidFill>
                          <a:latin typeface="Arial"/>
                          <a:ea typeface="Arial"/>
                          <a:cs typeface="Arial"/>
                        </a:rPr>
                        <a:t>SEC-TC-HD-02/08</a:t>
                      </a:r>
                    </a:p>
                  </a:txBody>
                  <a:tcPr marL="91440" marR="91440" marT="45720" marB="45720">
                    <a:lnR w="9525">
                      <a:solidFill>
                        <a:srgbClr val="D0D9E1"/>
                      </a:solidFill>
                    </a:lnR>
                    <a:solidFill>
                      <a:srgbClr val="FFFFFF"/>
                    </a:solidFill>
                  </a:tcPr>
                </a:tc>
              </a:tr>
              <a:tr h="551089">
                <a:tc>
                  <a:txBody>
                    <a:bodyPr/>
                    <a:lstStyle/>
                    <a:p>
                      <a:r>
                        <a:rPr sz="1875">
                          <a:solidFill>
                            <a:srgbClr val="182C40"/>
                          </a:solidFill>
                          <a:latin typeface="Arial"/>
                          <a:ea typeface="Arial"/>
                          <a:cs typeface="Arial"/>
                        </a:rPr>
                        <a:t>Quyền ticket và role</a:t>
                      </a:r>
                    </a:p>
                  </a:txBody>
                  <a:tcPr marL="91440" marR="91440" marT="45720" marB="45720">
                    <a:lnL w="9525">
                      <a:solidFill>
                        <a:srgbClr val="D0D9E1"/>
                      </a:solidFill>
                    </a:lnL>
                    <a:solidFill>
                      <a:srgbClr val="FFFFFF"/>
                    </a:solidFill>
                  </a:tcPr>
                </a:tc>
                <a:tc>
                  <a:txBody>
                    <a:bodyPr/>
                    <a:lstStyle/>
                    <a:p>
                      <a:r>
                        <a:rPr sz="1875">
                          <a:solidFill>
                            <a:srgbClr val="182C40"/>
                          </a:solidFill>
                          <a:latin typeface="Arial"/>
                          <a:ea typeface="Arial"/>
                          <a:cs typeface="Arial"/>
                        </a:rPr>
                        <a:t>TH-02, TH-04, TH-07</a:t>
                      </a:r>
                    </a:p>
                  </a:txBody>
                  <a:tcPr marL="91440" marR="91440" marT="45720" marB="45720">
                    <a:solidFill>
                      <a:srgbClr val="FFFFFF"/>
                    </a:solidFill>
                  </a:tcPr>
                </a:tc>
                <a:tc>
                  <a:txBody>
                    <a:bodyPr/>
                    <a:lstStyle/>
                    <a:p>
                      <a:r>
                        <a:rPr sz="1875">
                          <a:solidFill>
                            <a:srgbClr val="182C40"/>
                          </a:solidFill>
                          <a:latin typeface="Arial"/>
                          <a:ea typeface="Arial"/>
                          <a:cs typeface="Arial"/>
                        </a:rPr>
                        <a:t>SEC-TC-HD-01/05/06</a:t>
                      </a:r>
                    </a:p>
                  </a:txBody>
                  <a:tcPr marL="91440" marR="91440" marT="45720" marB="45720">
                    <a:lnR w="9525">
                      <a:solidFill>
                        <a:srgbClr val="D0D9E1"/>
                      </a:solidFill>
                    </a:lnR>
                    <a:solidFill>
                      <a:srgbClr val="FFFFFF"/>
                    </a:solidFill>
                  </a:tcPr>
                </a:tc>
              </a:tr>
              <a:tr h="551089">
                <a:tc>
                  <a:txBody>
                    <a:bodyPr/>
                    <a:lstStyle/>
                    <a:p>
                      <a:r>
                        <a:rPr sz="1875">
                          <a:solidFill>
                            <a:srgbClr val="182C40"/>
                          </a:solidFill>
                          <a:latin typeface="Arial"/>
                          <a:ea typeface="Arial"/>
                          <a:cs typeface="Arial"/>
                        </a:rPr>
                        <a:t>Tệp đính kèm</a:t>
                      </a:r>
                    </a:p>
                  </a:txBody>
                  <a:tcPr marL="91440" marR="91440" marT="45720" marB="45720">
                    <a:lnL w="9525">
                      <a:solidFill>
                        <a:srgbClr val="D0D9E1"/>
                      </a:solidFill>
                    </a:lnL>
                    <a:solidFill>
                      <a:srgbClr val="FFFFFF"/>
                    </a:solidFill>
                  </a:tcPr>
                </a:tc>
                <a:tc>
                  <a:txBody>
                    <a:bodyPr/>
                    <a:lstStyle/>
                    <a:p>
                      <a:r>
                        <a:rPr sz="1875">
                          <a:solidFill>
                            <a:srgbClr val="182C40"/>
                          </a:solidFill>
                          <a:latin typeface="Arial"/>
                          <a:ea typeface="Arial"/>
                          <a:cs typeface="Arial"/>
                        </a:rPr>
                        <a:t>TH-05, TH-06</a:t>
                      </a:r>
                    </a:p>
                  </a:txBody>
                  <a:tcPr marL="91440" marR="91440" marT="45720" marB="45720">
                    <a:solidFill>
                      <a:srgbClr val="FFFFFF"/>
                    </a:solidFill>
                  </a:tcPr>
                </a:tc>
                <a:tc>
                  <a:txBody>
                    <a:bodyPr/>
                    <a:lstStyle/>
                    <a:p>
                      <a:r>
                        <a:rPr sz="1875">
                          <a:solidFill>
                            <a:srgbClr val="182C40"/>
                          </a:solidFill>
                          <a:latin typeface="Arial"/>
                          <a:ea typeface="Arial"/>
                          <a:cs typeface="Arial"/>
                        </a:rPr>
                        <a:t>SEC-TC-HD-03</a:t>
                      </a:r>
                    </a:p>
                  </a:txBody>
                  <a:tcPr marL="91440" marR="91440" marT="45720" marB="45720">
                    <a:lnR w="9525">
                      <a:solidFill>
                        <a:srgbClr val="D0D9E1"/>
                      </a:solidFill>
                    </a:lnR>
                    <a:solidFill>
                      <a:srgbClr val="FFFFFF"/>
                    </a:solidFill>
                  </a:tcPr>
                </a:tc>
              </a:tr>
              <a:tr h="551089">
                <a:tc>
                  <a:txBody>
                    <a:bodyPr/>
                    <a:lstStyle/>
                    <a:p>
                      <a:r>
                        <a:rPr sz="1875">
                          <a:solidFill>
                            <a:srgbClr val="182C40"/>
                          </a:solidFill>
                          <a:latin typeface="Arial"/>
                          <a:ea typeface="Arial"/>
                          <a:cs typeface="Arial"/>
                        </a:rPr>
                        <a:t>Audit và bảo vệ log</a:t>
                      </a:r>
                    </a:p>
                  </a:txBody>
                  <a:tcPr marL="91440" marR="91440" marT="45720" marB="45720">
                    <a:lnL w="9525">
                      <a:solidFill>
                        <a:srgbClr val="D0D9E1"/>
                      </a:solidFill>
                    </a:lnL>
                    <a:solidFill>
                      <a:srgbClr val="FFFFFF"/>
                    </a:solidFill>
                  </a:tcPr>
                </a:tc>
                <a:tc>
                  <a:txBody>
                    <a:bodyPr/>
                    <a:lstStyle/>
                    <a:p>
                      <a:r>
                        <a:rPr sz="1875">
                          <a:solidFill>
                            <a:srgbClr val="182C40"/>
                          </a:solidFill>
                          <a:latin typeface="Arial"/>
                          <a:ea typeface="Arial"/>
                          <a:cs typeface="Arial"/>
                        </a:rPr>
                        <a:t>TH-03, TH-09</a:t>
                      </a:r>
                    </a:p>
                  </a:txBody>
                  <a:tcPr marL="91440" marR="91440" marT="45720" marB="45720">
                    <a:solidFill>
                      <a:srgbClr val="FFFFFF"/>
                    </a:solidFill>
                  </a:tcPr>
                </a:tc>
                <a:tc>
                  <a:txBody>
                    <a:bodyPr/>
                    <a:lstStyle/>
                    <a:p>
                      <a:r>
                        <a:rPr sz="1875">
                          <a:solidFill>
                            <a:srgbClr val="182C40"/>
                          </a:solidFill>
                          <a:latin typeface="Arial"/>
                          <a:ea typeface="Arial"/>
                          <a:cs typeface="Arial"/>
                        </a:rPr>
                        <a:t>SEC-TC-HD-04/08</a:t>
                      </a:r>
                    </a:p>
                  </a:txBody>
                  <a:tcPr marL="91440" marR="91440" marT="45720" marB="45720">
                    <a:lnR w="9525">
                      <a:solidFill>
                        <a:srgbClr val="D0D9E1"/>
                      </a:solidFill>
                    </a:lnR>
                    <a:solidFill>
                      <a:srgbClr val="FFFFFF"/>
                    </a:solidFill>
                  </a:tcPr>
                </a:tc>
              </a:tr>
              <a:tr h="551089">
                <a:tc>
                  <a:txBody>
                    <a:bodyPr/>
                    <a:lstStyle/>
                    <a:p>
                      <a:r>
                        <a:rPr sz="1875">
                          <a:solidFill>
                            <a:srgbClr val="182C40"/>
                          </a:solidFill>
                          <a:latin typeface="Arial"/>
                          <a:ea typeface="Arial"/>
                          <a:cs typeface="Arial"/>
                        </a:rPr>
                        <a:t>XSS và SQLi</a:t>
                      </a:r>
                    </a:p>
                  </a:txBody>
                  <a:tcPr marL="91440" marR="91440" marT="45720" marB="45720">
                    <a:lnL w="9525">
                      <a:solidFill>
                        <a:srgbClr val="D0D9E1"/>
                      </a:solidFill>
                    </a:lnL>
                    <a:solidFill>
                      <a:srgbClr val="FFFFFF"/>
                    </a:solidFill>
                  </a:tcPr>
                </a:tc>
                <a:tc>
                  <a:txBody>
                    <a:bodyPr/>
                    <a:lstStyle/>
                    <a:p>
                      <a:r>
                        <a:rPr sz="1875">
                          <a:solidFill>
                            <a:srgbClr val="182C40"/>
                          </a:solidFill>
                          <a:latin typeface="Arial"/>
                          <a:ea typeface="Arial"/>
                          <a:cs typeface="Arial"/>
                        </a:rPr>
                        <a:t>TH-11, TH-12</a:t>
                      </a:r>
                    </a:p>
                  </a:txBody>
                  <a:tcPr marL="91440" marR="91440" marT="45720" marB="45720">
                    <a:solidFill>
                      <a:srgbClr val="FFFFFF"/>
                    </a:solidFill>
                  </a:tcPr>
                </a:tc>
                <a:tc>
                  <a:txBody>
                    <a:bodyPr/>
                    <a:lstStyle/>
                    <a:p>
                      <a:r>
                        <a:rPr sz="1875">
                          <a:solidFill>
                            <a:srgbClr val="182C40"/>
                          </a:solidFill>
                          <a:latin typeface="Arial"/>
                          <a:ea typeface="Arial"/>
                          <a:cs typeface="Arial"/>
                        </a:rPr>
                        <a:t>SEC-TC-HD-07/08</a:t>
                      </a:r>
                    </a:p>
                  </a:txBody>
                  <a:tcPr marL="91440" marR="91440" marT="45720" marB="45720">
                    <a:lnR w="9525">
                      <a:solidFill>
                        <a:srgbClr val="D0D9E1"/>
                      </a:solidFill>
                    </a:lnR>
                    <a:solidFill>
                      <a:srgbClr val="FFFFFF"/>
                    </a:solidFill>
                  </a:tcPr>
                </a:tc>
              </a:tr>
              <a:tr h="551089">
                <a:tc>
                  <a:txBody>
                    <a:bodyPr/>
                    <a:lstStyle/>
                    <a:p>
                      <a:r>
                        <a:rPr sz="1875">
                          <a:solidFill>
                            <a:srgbClr val="182C40"/>
                          </a:solidFill>
                          <a:latin typeface="Arial"/>
                          <a:ea typeface="Arial"/>
                          <a:cs typeface="Arial"/>
                        </a:rPr>
                        <a:t>Secrets</a:t>
                      </a:r>
                    </a:p>
                  </a:txBody>
                  <a:tcPr marL="91440" marR="91440" marT="45720" marB="45720">
                    <a:lnL w="9525">
                      <a:solidFill>
                        <a:srgbClr val="D0D9E1"/>
                      </a:solidFill>
                    </a:lnL>
                    <a:lnB w="9525">
                      <a:solidFill>
                        <a:srgbClr val="D0D9E1"/>
                      </a:solidFill>
                    </a:lnB>
                    <a:solidFill>
                      <a:srgbClr val="FFFFFF"/>
                    </a:solidFill>
                  </a:tcPr>
                </a:tc>
                <a:tc>
                  <a:txBody>
                    <a:bodyPr/>
                    <a:lstStyle/>
                    <a:p>
                      <a:r>
                        <a:rPr sz="1875">
                          <a:solidFill>
                            <a:srgbClr val="182C40"/>
                          </a:solidFill>
                          <a:latin typeface="Arial"/>
                          <a:ea typeface="Arial"/>
                          <a:cs typeface="Arial"/>
                        </a:rPr>
                        <a:t>TH-10</a:t>
                      </a:r>
                    </a:p>
                  </a:txBody>
                  <a:tcPr marL="91440" marR="91440" marT="45720" marB="45720">
                    <a:lnB w="9525">
                      <a:solidFill>
                        <a:srgbClr val="D0D9E1"/>
                      </a:solidFill>
                    </a:lnB>
                    <a:solidFill>
                      <a:srgbClr val="FFFFFF"/>
                    </a:solidFill>
                  </a:tcPr>
                </a:tc>
                <a:tc>
                  <a:txBody>
                    <a:bodyPr/>
                    <a:lstStyle/>
                    <a:p>
                      <a:r>
                        <a:rPr sz="1875">
                          <a:solidFill>
                            <a:srgbClr val="182C40"/>
                          </a:solidFill>
                          <a:latin typeface="Arial"/>
                          <a:ea typeface="Arial"/>
                          <a:cs typeface="Arial"/>
                        </a:rPr>
                        <a:t>SEC-TC-HD-08</a:t>
                      </a:r>
                    </a:p>
                  </a:txBody>
                  <a:tcPr marL="91440" marR="91440" marT="45720" marB="45720">
                    <a:lnR w="9525">
                      <a:solidFill>
                        <a:srgbClr val="D0D9E1"/>
                      </a:solidFill>
                    </a:lnR>
                    <a:lnB w="9525">
                      <a:solidFill>
                        <a:srgbClr val="D0D9E1"/>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40F2158-35E9-4AD3-A900-502389A7D899}"/>
              </a:ext>
            </a:extLst>
          </p:cNvPr>
          <p:cNvSpPr>
            <a:spLocks xmlns:a="http://schemas.openxmlformats.org/drawingml/2006/main" noGrp="1"/>
          </p:cNvSpPr>
          <p:nvPr/>
        </p:nvSpPr>
        <p:spPr>
          <a:xfrm xmlns:a="http://schemas.openxmlformats.org/drawingml/2006/main">
            <a:off x="571500" y="538162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12 mối đe dọa, 7 mã SR, 8 nhóm test và 12 dòng risk</a:t>
            </a:r>
          </a:p>
        </p:txBody>
      </p:sp>
      <p:sp>
        <p:nvSpPr>
          <p:cNvPr id="5" name="">
            <a:extLst xmlns:a="http://schemas.openxmlformats.org/drawingml/2006/main">
              <a:ext uri="{FF2B5EF4-FFF2-40B4-BE49-F238E27FC236}">
                <a16:creationId xmlns:a16="http://schemas.microsoft.com/office/drawing/2014/main" id="{6D5380C0-678E-4E53-80F1-007391133AD6}"/>
              </a:ext>
            </a:extLst>
          </p:cNvPr>
          <p:cNvSpPr>
            <a:spLocks xmlns:a="http://schemas.openxmlformats.org/drawingml/2006/main" noGrp="1"/>
          </p:cNvSpPr>
          <p:nvPr/>
        </p:nvSpPr>
        <p:spPr>
          <a:xfrm xmlns:a="http://schemas.openxmlformats.org/drawingml/2006/main">
            <a:off x="571500" y="60198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40"/>
                </a:solidFill>
                <a:latin typeface="Arial"/>
                <a:ea typeface="Arial"/>
                <a:cs typeface="Arial"/>
              </a:defRPr>
            </a:defPPr>
            <a:lvl1pPr>
              <a:defRPr sz="1875" b="0">
                <a:solidFill>
                  <a:srgbClr val="182C40"/>
                </a:solidFill>
                <a:latin typeface="Arial"/>
                <a:ea typeface="Arial"/>
                <a:cs typeface="Arial"/>
              </a:defRPr>
            </a:lvl1pPr>
            <a:lvl2pPr>
              <a:defRPr sz="1875" b="0">
                <a:solidFill>
                  <a:srgbClr val="182C40"/>
                </a:solidFill>
                <a:latin typeface="Arial"/>
                <a:ea typeface="Arial"/>
                <a:cs typeface="Arial"/>
              </a:defRPr>
            </a:lvl2pPr>
            <a:lvl3pPr>
              <a:defRPr sz="1875" b="0">
                <a:solidFill>
                  <a:srgbClr val="182C40"/>
                </a:solidFill>
                <a:latin typeface="Arial"/>
                <a:ea typeface="Arial"/>
                <a:cs typeface="Arial"/>
              </a:defRPr>
            </a:lvl3pPr>
            <a:lvl4pPr>
              <a:defRPr sz="1875" b="0">
                <a:solidFill>
                  <a:srgbClr val="182C40"/>
                </a:solidFill>
                <a:latin typeface="Arial"/>
                <a:ea typeface="Arial"/>
                <a:cs typeface="Arial"/>
              </a:defRPr>
            </a:lvl4pPr>
            <a:lvl5pPr>
              <a:defRPr sz="1875" b="0">
                <a:solidFill>
                  <a:srgbClr val="182C40"/>
                </a:solidFill>
                <a:latin typeface="Arial"/>
                <a:ea typeface="Arial"/>
                <a:cs typeface="Arial"/>
              </a:defRPr>
            </a:lvl5pPr>
            <a:lvl6pPr>
              <a:defRPr sz="1875" b="0">
                <a:solidFill>
                  <a:srgbClr val="182C40"/>
                </a:solidFill>
                <a:latin typeface="Arial"/>
                <a:ea typeface="Arial"/>
                <a:cs typeface="Arial"/>
              </a:defRPr>
            </a:lvl6pPr>
            <a:lvl7pPr>
              <a:defRPr sz="1875" b="0">
                <a:solidFill>
                  <a:srgbClr val="182C40"/>
                </a:solidFill>
                <a:latin typeface="Arial"/>
                <a:ea typeface="Arial"/>
                <a:cs typeface="Arial"/>
              </a:defRPr>
            </a:lvl7pPr>
            <a:lvl8pPr>
              <a:defRPr sz="1875" b="0">
                <a:solidFill>
                  <a:srgbClr val="182C40"/>
                </a:solidFill>
                <a:latin typeface="Arial"/>
                <a:ea typeface="Arial"/>
                <a:cs typeface="Arial"/>
              </a:defRPr>
            </a:lvl8pPr>
            <a:lvl9pPr>
              <a:defRPr sz="1875" b="0">
                <a:solidFill>
                  <a:srgbClr val="182C40"/>
                </a:solidFill>
                <a:latin typeface="Arial"/>
                <a:ea typeface="Arial"/>
                <a:cs typeface="Arial"/>
              </a:defRPr>
            </a:lvl9pPr>
          </a:lstStyle>
          <a:p xmlns:a="http://schemas.openxmlformats.org/drawingml/2006/main">
            <a:pPr>
              <a:defRPr sz="1875" b="0">
                <a:solidFill>
                  <a:srgbClr val="182C40"/>
                </a:solidFill>
                <a:latin typeface="Arial"/>
                <a:ea typeface="Arial"/>
                <a:cs typeface="Arial"/>
              </a:defRPr>
            </a:pPr>
            <a:r>
              <a:rPr sz="1875" b="0">
                <a:solidFill>
                  <a:srgbClr val="182C40"/>
                </a:solidFill>
                <a:latin typeface="Arial"/>
                <a:ea typeface="Arial"/>
                <a:cs typeface="Arial"/>
              </a:rPr>
              <a:t>EV-HD-21…28 là evidence dự kiến. Chưa chạy kiểm thử và chưa chấm residual risk</a:t>
            </a:r>
          </a:p>
        </p:txBody>
      </p:sp>
    </p:spTree>
    <p:extLst>
      <p:ext uri="{BB962C8B-B14F-4D97-AF65-F5344CB8AC3E}">
        <p14:creationId xmlns:p14="http://schemas.microsoft.com/office/powerpoint/2010/main" val="7729769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1730A5-4087-4E62-940D-63C88FF8D31E}"/>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Ma trận quyền</a:t>
            </a:r>
          </a:p>
        </p:txBody>
      </p:sp>
      <p:graphicFrame>
        <p:nvGraphicFramePr>
          <p:cNvPr id="3" name="">
            <a:extLst xmlns:a="http://schemas.openxmlformats.org/drawingml/2006/main">
              <a:ext uri="{FF2B5EF4-FFF2-40B4-BE49-F238E27FC236}">
                <a16:creationId xmlns:a16="http://schemas.microsoft.com/office/drawing/2014/main" id="{31242CE2-FEAC-4618-A671-B8617C0CD883}"/>
              </a:ext>
            </a:extLst>
          </p:cNvPr>
          <p:cNvGraphicFramePr/>
          <p:nvPr/>
        </p:nvGraphicFramePr>
        <p:xfrm>
          <a:off xmlns:a="http://schemas.openxmlformats.org/drawingml/2006/main" x="476250" y="1190625"/>
          <a:ext xmlns:a="http://schemas.openxmlformats.org/drawingml/2006/main" cx="11144250" cy="4143375"/>
        </p:xfrm>
        <a:graphic xmlns:a="http://schemas.openxmlformats.org/drawingml/2006/main">
          <a:graphicData uri="http://schemas.openxmlformats.org/drawingml/2006/table">
            <a:tbl>
              <a:tblPr/>
              <a:tblGrid>
                <a:gridCol w="2476500"/>
                <a:gridCol w="2095500"/>
                <a:gridCol w="2381250"/>
                <a:gridCol w="2095500"/>
                <a:gridCol w="2095500"/>
              </a:tblGrid>
              <a:tr h="517922">
                <a:tc>
                  <a:txBody>
                    <a:bodyPr/>
                    <a:lstStyle/>
                    <a:p>
                      <a:r>
                        <a:rPr sz="1725" b="1">
                          <a:solidFill>
                            <a:srgbClr val="FFFFFF"/>
                          </a:solidFill>
                          <a:latin typeface="Arial"/>
                          <a:ea typeface="Arial"/>
                          <a:cs typeface="Arial"/>
                        </a:rPr>
                        <a:t>Thao tác</a:t>
                      </a:r>
                    </a:p>
                  </a:txBody>
                  <a:tcPr marL="91440" marR="91440" marT="45720" marB="45720">
                    <a:lnL w="9525">
                      <a:solidFill>
                        <a:srgbClr val="D0D9E1"/>
                      </a:solidFill>
                    </a:lnL>
                    <a:lnT w="9525">
                      <a:solidFill>
                        <a:srgbClr val="D0D9E1"/>
                      </a:solidFill>
                    </a:lnT>
                    <a:solidFill>
                      <a:srgbClr val="173A5E"/>
                    </a:solidFill>
                  </a:tcPr>
                </a:tc>
                <a:tc>
                  <a:txBody>
                    <a:bodyPr/>
                    <a:lstStyle/>
                    <a:p>
                      <a:r>
                        <a:rPr sz="1725" b="1">
                          <a:solidFill>
                            <a:srgbClr val="FFFFFF"/>
                          </a:solidFill>
                          <a:latin typeface="Arial"/>
                          <a:ea typeface="Arial"/>
                          <a:cs typeface="Arial"/>
                        </a:rPr>
                        <a:t>Employee</a:t>
                      </a:r>
                    </a:p>
                  </a:txBody>
                  <a:tcPr marL="91440" marR="91440" marT="45720" marB="45720">
                    <a:lnT w="9525">
                      <a:solidFill>
                        <a:srgbClr val="D0D9E1"/>
                      </a:solidFill>
                    </a:lnT>
                    <a:solidFill>
                      <a:srgbClr val="173A5E"/>
                    </a:solidFill>
                  </a:tcPr>
                </a:tc>
                <a:tc>
                  <a:txBody>
                    <a:bodyPr/>
                    <a:lstStyle/>
                    <a:p>
                      <a:r>
                        <a:rPr sz="1725" b="1">
                          <a:solidFill>
                            <a:srgbClr val="FFFFFF"/>
                          </a:solidFill>
                          <a:latin typeface="Arial"/>
                          <a:ea typeface="Arial"/>
                          <a:cs typeface="Arial"/>
                        </a:rPr>
                        <a:t>IT Staff</a:t>
                      </a:r>
                    </a:p>
                  </a:txBody>
                  <a:tcPr marL="91440" marR="91440" marT="45720" marB="45720">
                    <a:lnT w="9525">
                      <a:solidFill>
                        <a:srgbClr val="D0D9E1"/>
                      </a:solidFill>
                    </a:lnT>
                    <a:solidFill>
                      <a:srgbClr val="173A5E"/>
                    </a:solidFill>
                  </a:tcPr>
                </a:tc>
                <a:tc>
                  <a:txBody>
                    <a:bodyPr/>
                    <a:lstStyle/>
                    <a:p>
                      <a:r>
                        <a:rPr sz="1725" b="1">
                          <a:solidFill>
                            <a:srgbClr val="FFFFFF"/>
                          </a:solidFill>
                          <a:latin typeface="Arial"/>
                          <a:ea typeface="Arial"/>
                          <a:cs typeface="Arial"/>
                        </a:rPr>
                        <a:t>Manager</a:t>
                      </a:r>
                    </a:p>
                  </a:txBody>
                  <a:tcPr marL="91440" marR="91440" marT="45720" marB="45720">
                    <a:lnT w="9525">
                      <a:solidFill>
                        <a:srgbClr val="D0D9E1"/>
                      </a:solidFill>
                    </a:lnT>
                    <a:solidFill>
                      <a:srgbClr val="173A5E"/>
                    </a:solidFill>
                  </a:tcPr>
                </a:tc>
                <a:tc>
                  <a:txBody>
                    <a:bodyPr/>
                    <a:lstStyle/>
                    <a:p>
                      <a:r>
                        <a:rPr sz="1725" b="1">
                          <a:solidFill>
                            <a:srgbClr val="FFFFFF"/>
                          </a:solidFill>
                          <a:latin typeface="Arial"/>
                          <a:ea typeface="Arial"/>
                          <a:cs typeface="Arial"/>
                        </a:rPr>
                        <a:t>Admin</a:t>
                      </a:r>
                    </a:p>
                  </a:txBody>
                  <a:tcPr marL="91440" marR="91440" marT="45720" marB="45720">
                    <a:lnR w="9525">
                      <a:solidFill>
                        <a:srgbClr val="D0D9E1"/>
                      </a:solidFill>
                    </a:lnR>
                    <a:lnT w="9525">
                      <a:solidFill>
                        <a:srgbClr val="D0D9E1"/>
                      </a:solidFill>
                    </a:lnT>
                    <a:solidFill>
                      <a:srgbClr val="173A5E"/>
                    </a:solidFill>
                  </a:tcPr>
                </a:tc>
              </a:tr>
              <a:tr h="517922">
                <a:tc>
                  <a:txBody>
                    <a:bodyPr/>
                    <a:lstStyle/>
                    <a:p>
                      <a:r>
                        <a:rPr sz="1725">
                          <a:solidFill>
                            <a:srgbClr val="182C40"/>
                          </a:solidFill>
                          <a:latin typeface="Arial"/>
                          <a:ea typeface="Arial"/>
                          <a:cs typeface="Arial"/>
                        </a:rPr>
                        <a:t>Xem ticket</a:t>
                      </a:r>
                    </a:p>
                  </a:txBody>
                  <a:tcPr marL="91440" marR="91440" marT="45720" marB="45720">
                    <a:lnL w="9525">
                      <a:solidFill>
                        <a:srgbClr val="D0D9E1"/>
                      </a:solidFill>
                    </a:lnL>
                    <a:solidFill>
                      <a:srgbClr val="FFFFFF"/>
                    </a:solidFill>
                  </a:tcPr>
                </a:tc>
                <a:tc>
                  <a:txBody>
                    <a:bodyPr/>
                    <a:lstStyle/>
                    <a:p>
                      <a:r>
                        <a:rPr sz="1725">
                          <a:solidFill>
                            <a:srgbClr val="182C40"/>
                          </a:solidFill>
                          <a:latin typeface="Arial"/>
                          <a:ea typeface="Arial"/>
                          <a:cs typeface="Arial"/>
                        </a:rPr>
                        <a:t>Own</a:t>
                      </a:r>
                    </a:p>
                  </a:txBody>
                  <a:tcPr marL="91440" marR="91440" marT="45720" marB="45720">
                    <a:solidFill>
                      <a:srgbClr val="FFFFFF"/>
                    </a:solidFill>
                  </a:tcPr>
                </a:tc>
                <a:tc>
                  <a:txBody>
                    <a:bodyPr/>
                    <a:lstStyle/>
                    <a:p>
                      <a:r>
                        <a:rPr sz="1725">
                          <a:solidFill>
                            <a:srgbClr val="182C40"/>
                          </a:solidFill>
                          <a:latin typeface="Arial"/>
                          <a:ea typeface="Arial"/>
                          <a:cs typeface="Arial"/>
                        </a:rPr>
                        <a:t>Assigned +</a:t>
                      </a:r>
                    </a:p>
                    <a:p>
                      <a:r>
                        <a:rPr sz="1725">
                          <a:solidFill>
                            <a:srgbClr val="182C40"/>
                          </a:solidFill>
                          <a:latin typeface="Arial"/>
                          <a:ea typeface="Arial"/>
                          <a:cs typeface="Arial"/>
                        </a:rPr>
                        <a:t>New chỉ xem</a:t>
                      </a:r>
                    </a:p>
                  </a:txBody>
                  <a:tcPr marL="91440" marR="91440" marT="45720" marB="45720">
                    <a:solidFill>
                      <a:srgbClr val="FFFFFF"/>
                    </a:solidFill>
                  </a:tcPr>
                </a:tc>
                <a:tc>
                  <a:txBody>
                    <a:bodyPr/>
                    <a:lstStyle/>
                    <a:p>
                      <a:r>
                        <a:rPr sz="1725">
                          <a:solidFill>
                            <a:srgbClr val="182C40"/>
                          </a:solidFill>
                          <a:latin typeface="Arial"/>
                          <a:ea typeface="Arial"/>
                          <a:cs typeface="Arial"/>
                        </a:rPr>
                        <a:t>All</a:t>
                      </a:r>
                    </a:p>
                  </a:txBody>
                  <a:tcPr marL="91440" marR="91440" marT="45720" marB="45720">
                    <a:solidFill>
                      <a:srgbClr val="FFFFFF"/>
                    </a:solidFill>
                  </a:tcPr>
                </a:tc>
                <a:tc>
                  <a:txBody>
                    <a:bodyPr/>
                    <a:lstStyle/>
                    <a:p>
                      <a:r>
                        <a:rPr sz="1725">
                          <a:solidFill>
                            <a:srgbClr val="182C40"/>
                          </a:solidFill>
                          <a:latin typeface="Arial"/>
                          <a:ea typeface="Arial"/>
                          <a:cs typeface="Arial"/>
                        </a:rPr>
                        <a:t>Chỉ đọc</a:t>
                      </a:r>
                    </a:p>
                  </a:txBody>
                  <a:tcPr marL="91440" marR="91440" marT="45720" marB="45720">
                    <a:lnR w="9525">
                      <a:solidFill>
                        <a:srgbClr val="D0D9E1"/>
                      </a:solidFill>
                    </a:lnR>
                    <a:solidFill>
                      <a:srgbClr val="FFFFFF"/>
                    </a:solidFill>
                  </a:tcPr>
                </a:tc>
              </a:tr>
              <a:tr h="517922">
                <a:tc>
                  <a:txBody>
                    <a:bodyPr/>
                    <a:lstStyle/>
                    <a:p>
                      <a:r>
                        <a:rPr sz="1725">
                          <a:solidFill>
                            <a:srgbClr val="182C40"/>
                          </a:solidFill>
                          <a:latin typeface="Arial"/>
                          <a:ea typeface="Arial"/>
                          <a:cs typeface="Arial"/>
                        </a:rPr>
                        <a:t>Tạo ticket</a:t>
                      </a:r>
                    </a:p>
                  </a:txBody>
                  <a:tcPr marL="91440" marR="91440" marT="45720" marB="45720">
                    <a:lnL w="9525">
                      <a:solidFill>
                        <a:srgbClr val="D0D9E1"/>
                      </a:solidFill>
                    </a:lnL>
                    <a:solidFill>
                      <a:srgbClr val="FFFFFF"/>
                    </a:solidFill>
                  </a:tcPr>
                </a:tc>
                <a:tc>
                  <a:txBody>
                    <a:bodyPr/>
                    <a:lstStyle/>
                    <a:p>
                      <a:r>
                        <a:rPr sz="1725">
                          <a:solidFill>
                            <a:srgbClr val="182C40"/>
                          </a:solidFill>
                          <a:latin typeface="Arial"/>
                          <a:ea typeface="Arial"/>
                          <a:cs typeface="Arial"/>
                        </a:rPr>
                        <a:t>Có</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lnR w="9525">
                      <a:solidFill>
                        <a:srgbClr val="D0D9E1"/>
                      </a:solidFill>
                    </a:lnR>
                    <a:solidFill>
                      <a:srgbClr val="FFFFFF"/>
                    </a:solidFill>
                  </a:tcPr>
                </a:tc>
              </a:tr>
              <a:tr h="517922">
                <a:tc>
                  <a:txBody>
                    <a:bodyPr/>
                    <a:lstStyle/>
                    <a:p>
                      <a:r>
                        <a:rPr sz="1725">
                          <a:solidFill>
                            <a:srgbClr val="182C40"/>
                          </a:solidFill>
                          <a:latin typeface="Arial"/>
                          <a:ea typeface="Arial"/>
                          <a:cs typeface="Arial"/>
                        </a:rPr>
                        <a:t>Phân công</a:t>
                      </a:r>
                    </a:p>
                  </a:txBody>
                  <a:tcPr marL="91440" marR="91440" marT="45720" marB="45720">
                    <a:lnL w="9525">
                      <a:solidFill>
                        <a:srgbClr val="D0D9E1"/>
                      </a:solidFill>
                    </a:lnL>
                    <a:solidFill>
                      <a:srgbClr val="FFFFFF"/>
                    </a:solidFill>
                  </a:tcPr>
                </a:tc>
                <a:tc>
                  <a:txBody>
                    <a:bodyPr/>
                    <a:lstStyle/>
                    <a:p>
                      <a:r>
                        <a:rPr sz="1725">
                          <a:solidFill>
                            <a:srgbClr val="182C40"/>
                          </a:solidFill>
                          <a:latin typeface="Arial"/>
                          <a:ea typeface="Arial"/>
                          <a:cs typeface="Arial"/>
                        </a:rPr>
                        <a:t>Không</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solidFill>
                      <a:srgbClr val="FFFFFF"/>
                    </a:solidFill>
                  </a:tcPr>
                </a:tc>
                <a:tc>
                  <a:txBody>
                    <a:bodyPr/>
                    <a:lstStyle/>
                    <a:p>
                      <a:r>
                        <a:rPr sz="1725">
                          <a:solidFill>
                            <a:srgbClr val="182C40"/>
                          </a:solidFill>
                          <a:latin typeface="Arial"/>
                          <a:ea typeface="Arial"/>
                          <a:cs typeface="Arial"/>
                        </a:rPr>
                        <a:t>Có</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lnR w="9525">
                      <a:solidFill>
                        <a:srgbClr val="D0D9E1"/>
                      </a:solidFill>
                    </a:lnR>
                    <a:solidFill>
                      <a:srgbClr val="FFFFFF"/>
                    </a:solidFill>
                  </a:tcPr>
                </a:tc>
              </a:tr>
              <a:tr h="517922">
                <a:tc>
                  <a:txBody>
                    <a:bodyPr/>
                    <a:lstStyle/>
                    <a:p>
                      <a:r>
                        <a:rPr sz="1725">
                          <a:solidFill>
                            <a:srgbClr val="182C40"/>
                          </a:solidFill>
                          <a:latin typeface="Arial"/>
                          <a:ea typeface="Arial"/>
                          <a:cs typeface="Arial"/>
                        </a:rPr>
                        <a:t>Đổi status</a:t>
                      </a:r>
                    </a:p>
                  </a:txBody>
                  <a:tcPr marL="91440" marR="91440" marT="45720" marB="45720">
                    <a:lnL w="9525">
                      <a:solidFill>
                        <a:srgbClr val="D0D9E1"/>
                      </a:solidFill>
                    </a:lnL>
                    <a:solidFill>
                      <a:srgbClr val="FFFFFF"/>
                    </a:solidFill>
                  </a:tcPr>
                </a:tc>
                <a:tc>
                  <a:txBody>
                    <a:bodyPr/>
                    <a:lstStyle/>
                    <a:p>
                      <a:r>
                        <a:rPr sz="1725">
                          <a:solidFill>
                            <a:srgbClr val="182C40"/>
                          </a:solidFill>
                          <a:latin typeface="Arial"/>
                          <a:ea typeface="Arial"/>
                          <a:cs typeface="Arial"/>
                        </a:rPr>
                        <a:t>Không</a:t>
                      </a:r>
                    </a:p>
                  </a:txBody>
                  <a:tcPr marL="91440" marR="91440" marT="45720" marB="45720">
                    <a:solidFill>
                      <a:srgbClr val="FFFFFF"/>
                    </a:solidFill>
                  </a:tcPr>
                </a:tc>
                <a:tc>
                  <a:txBody>
                    <a:bodyPr/>
                    <a:lstStyle/>
                    <a:p>
                      <a:r>
                        <a:rPr sz="1725">
                          <a:solidFill>
                            <a:srgbClr val="182C40"/>
                          </a:solidFill>
                          <a:latin typeface="Arial"/>
                          <a:ea typeface="Arial"/>
                          <a:cs typeface="Arial"/>
                        </a:rPr>
                        <a:t>Assigned</a:t>
                      </a:r>
                    </a:p>
                  </a:txBody>
                  <a:tcPr marL="91440" marR="91440" marT="45720" marB="45720">
                    <a:solidFill>
                      <a:srgbClr val="FFFFFF"/>
                    </a:solidFill>
                  </a:tcPr>
                </a:tc>
                <a:tc>
                  <a:txBody>
                    <a:bodyPr/>
                    <a:lstStyle/>
                    <a:p>
                      <a:r>
                        <a:rPr sz="1725">
                          <a:solidFill>
                            <a:srgbClr val="182C40"/>
                          </a:solidFill>
                          <a:latin typeface="Arial"/>
                          <a:ea typeface="Arial"/>
                          <a:cs typeface="Arial"/>
                        </a:rPr>
                        <a:t>Không *</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lnR w="9525">
                      <a:solidFill>
                        <a:srgbClr val="D0D9E1"/>
                      </a:solidFill>
                    </a:lnR>
                    <a:solidFill>
                      <a:srgbClr val="FFFFFF"/>
                    </a:solidFill>
                  </a:tcPr>
                </a:tc>
              </a:tr>
              <a:tr h="517922">
                <a:tc>
                  <a:txBody>
                    <a:bodyPr/>
                    <a:lstStyle/>
                    <a:p>
                      <a:r>
                        <a:rPr sz="1725">
                          <a:solidFill>
                            <a:srgbClr val="182C40"/>
                          </a:solidFill>
                          <a:latin typeface="Arial"/>
                          <a:ea typeface="Arial"/>
                          <a:cs typeface="Arial"/>
                        </a:rPr>
                        <a:t>Đóng ticket</a:t>
                      </a:r>
                    </a:p>
                  </a:txBody>
                  <a:tcPr marL="91440" marR="91440" marT="45720" marB="45720">
                    <a:lnL w="9525">
                      <a:solidFill>
                        <a:srgbClr val="D0D9E1"/>
                      </a:solidFill>
                    </a:lnL>
                    <a:solidFill>
                      <a:srgbClr val="FFFFFF"/>
                    </a:solidFill>
                  </a:tcPr>
                </a:tc>
                <a:tc>
                  <a:txBody>
                    <a:bodyPr/>
                    <a:lstStyle/>
                    <a:p>
                      <a:r>
                        <a:rPr sz="1725">
                          <a:solidFill>
                            <a:srgbClr val="182C40"/>
                          </a:solidFill>
                          <a:latin typeface="Arial"/>
                          <a:ea typeface="Arial"/>
                          <a:cs typeface="Arial"/>
                        </a:rPr>
                        <a:t>Own, Resolved</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solidFill>
                      <a:srgbClr val="FFFFFF"/>
                    </a:solidFill>
                  </a:tcPr>
                </a:tc>
                <a:tc>
                  <a:txBody>
                    <a:bodyPr/>
                    <a:lstStyle/>
                    <a:p>
                      <a:r>
                        <a:rPr sz="1725">
                          <a:solidFill>
                            <a:srgbClr val="182C40"/>
                          </a:solidFill>
                          <a:latin typeface="Arial"/>
                          <a:ea typeface="Arial"/>
                          <a:cs typeface="Arial"/>
                        </a:rPr>
                        <a:t>Resolved</a:t>
                      </a:r>
                    </a:p>
                  </a:txBody>
                  <a:tcPr marL="91440" marR="91440" marT="45720" marB="45720">
                    <a:solidFill>
                      <a:srgbClr val="FFFFFF"/>
                    </a:solidFill>
                  </a:tcPr>
                </a:tc>
                <a:tc>
                  <a:txBody>
                    <a:bodyPr/>
                    <a:lstStyle/>
                    <a:p>
                      <a:r>
                        <a:rPr sz="1725">
                          <a:solidFill>
                            <a:srgbClr val="182C40"/>
                          </a:solidFill>
                          <a:latin typeface="Arial"/>
                          <a:ea typeface="Arial"/>
                          <a:cs typeface="Arial"/>
                        </a:rPr>
                        <a:t>Không</a:t>
                      </a:r>
                    </a:p>
                  </a:txBody>
                  <a:tcPr marL="91440" marR="91440" marT="45720" marB="45720">
                    <a:lnR w="9525">
                      <a:solidFill>
                        <a:srgbClr val="D0D9E1"/>
                      </a:solidFill>
                    </a:lnR>
                    <a:solidFill>
                      <a:srgbClr val="FFFFFF"/>
                    </a:solidFill>
                  </a:tcPr>
                </a:tc>
              </a:tr>
              <a:tr h="517922">
                <a:tc>
                  <a:txBody>
                    <a:bodyPr/>
                    <a:lstStyle/>
                    <a:p>
                      <a:r>
                        <a:rPr sz="1725">
                          <a:solidFill>
                            <a:srgbClr val="182C40"/>
                          </a:solidFill>
                          <a:latin typeface="Arial"/>
                          <a:ea typeface="Arial"/>
                          <a:cs typeface="Arial"/>
                        </a:rPr>
                        <a:t>Tải byte tệp</a:t>
                      </a:r>
                    </a:p>
                  </a:txBody>
                  <a:tcPr marL="91440" marR="91440" marT="45720" marB="45720">
                    <a:lnL w="9525">
                      <a:solidFill>
                        <a:srgbClr val="D0D9E1"/>
                      </a:solidFill>
                    </a:lnL>
                    <a:solidFill>
                      <a:srgbClr val="FFFFFF"/>
                    </a:solidFill>
                  </a:tcPr>
                </a:tc>
                <a:tc>
                  <a:txBody>
                    <a:bodyPr/>
                    <a:lstStyle/>
                    <a:p>
                      <a:r>
                        <a:rPr sz="1725">
                          <a:solidFill>
                            <a:srgbClr val="182C40"/>
                          </a:solidFill>
                          <a:latin typeface="Arial"/>
                          <a:ea typeface="Arial"/>
                          <a:cs typeface="Arial"/>
                        </a:rPr>
                        <a:t>Own</a:t>
                      </a:r>
                    </a:p>
                  </a:txBody>
                  <a:tcPr marL="91440" marR="91440" marT="45720" marB="45720">
                    <a:solidFill>
                      <a:srgbClr val="FFFFFF"/>
                    </a:solidFill>
                  </a:tcPr>
                </a:tc>
                <a:tc>
                  <a:txBody>
                    <a:bodyPr/>
                    <a:lstStyle/>
                    <a:p>
                      <a:r>
                        <a:rPr sz="1725">
                          <a:solidFill>
                            <a:srgbClr val="182C40"/>
                          </a:solidFill>
                          <a:latin typeface="Arial"/>
                          <a:ea typeface="Arial"/>
                          <a:cs typeface="Arial"/>
                        </a:rPr>
                        <a:t>Theo phạm vi</a:t>
                      </a:r>
                    </a:p>
                  </a:txBody>
                  <a:tcPr marL="91440" marR="91440" marT="45720" marB="45720">
                    <a:solidFill>
                      <a:srgbClr val="FFFFFF"/>
                    </a:solidFill>
                  </a:tcPr>
                </a:tc>
                <a:tc>
                  <a:txBody>
                    <a:bodyPr/>
                    <a:lstStyle/>
                    <a:p>
                      <a:r>
                        <a:rPr sz="1725">
                          <a:solidFill>
                            <a:srgbClr val="182C40"/>
                          </a:solidFill>
                          <a:latin typeface="Arial"/>
                          <a:ea typeface="Arial"/>
                          <a:cs typeface="Arial"/>
                        </a:rPr>
                        <a:t>All</a:t>
                      </a:r>
                    </a:p>
                  </a:txBody>
                  <a:tcPr marL="91440" marR="91440" marT="45720" marB="45720">
                    <a:solidFill>
                      <a:srgbClr val="FFFFFF"/>
                    </a:solidFill>
                  </a:tcPr>
                </a:tc>
                <a:tc>
                  <a:txBody>
                    <a:bodyPr/>
                    <a:lstStyle/>
                    <a:p>
                      <a:r>
                        <a:rPr sz="1725">
                          <a:solidFill>
                            <a:srgbClr val="182C40"/>
                          </a:solidFill>
                          <a:latin typeface="Arial"/>
                          <a:ea typeface="Arial"/>
                          <a:cs typeface="Arial"/>
                        </a:rPr>
                        <a:t>Không *</a:t>
                      </a:r>
                    </a:p>
                  </a:txBody>
                  <a:tcPr marL="91440" marR="91440" marT="45720" marB="45720">
                    <a:lnR w="9525">
                      <a:solidFill>
                        <a:srgbClr val="D0D9E1"/>
                      </a:solidFill>
                    </a:lnR>
                    <a:solidFill>
                      <a:srgbClr val="FFFFFF"/>
                    </a:solidFill>
                  </a:tcPr>
                </a:tc>
              </a:tr>
              <a:tr h="517922">
                <a:tc>
                  <a:txBody>
                    <a:bodyPr/>
                    <a:lstStyle/>
                    <a:p>
                      <a:r>
                        <a:rPr sz="1725">
                          <a:solidFill>
                            <a:srgbClr val="182C40"/>
                          </a:solidFill>
                          <a:latin typeface="Arial"/>
                          <a:ea typeface="Arial"/>
                          <a:cs typeface="Arial"/>
                        </a:rPr>
                        <a:t>User và role</a:t>
                      </a:r>
                    </a:p>
                  </a:txBody>
                  <a:tcPr marL="91440" marR="91440" marT="45720" marB="45720">
                    <a:lnL w="9525">
                      <a:solidFill>
                        <a:srgbClr val="D0D9E1"/>
                      </a:solidFill>
                    </a:lnL>
                    <a:lnB w="9525">
                      <a:solidFill>
                        <a:srgbClr val="D0D9E1"/>
                      </a:solidFill>
                    </a:lnB>
                    <a:solidFill>
                      <a:srgbClr val="FFFFFF"/>
                    </a:solidFill>
                  </a:tcPr>
                </a:tc>
                <a:tc>
                  <a:txBody>
                    <a:bodyPr/>
                    <a:lstStyle/>
                    <a:p>
                      <a:r>
                        <a:rPr sz="1725">
                          <a:solidFill>
                            <a:srgbClr val="182C40"/>
                          </a:solidFill>
                          <a:latin typeface="Arial"/>
                          <a:ea typeface="Arial"/>
                          <a:cs typeface="Arial"/>
                        </a:rPr>
                        <a:t>Không</a:t>
                      </a:r>
                    </a:p>
                  </a:txBody>
                  <a:tcPr marL="91440" marR="91440" marT="45720" marB="45720">
                    <a:lnB w="9525">
                      <a:solidFill>
                        <a:srgbClr val="D0D9E1"/>
                      </a:solidFill>
                    </a:lnB>
                    <a:solidFill>
                      <a:srgbClr val="FFFFFF"/>
                    </a:solidFill>
                  </a:tcPr>
                </a:tc>
                <a:tc>
                  <a:txBody>
                    <a:bodyPr/>
                    <a:lstStyle/>
                    <a:p>
                      <a:r>
                        <a:rPr sz="1725">
                          <a:solidFill>
                            <a:srgbClr val="182C40"/>
                          </a:solidFill>
                          <a:latin typeface="Arial"/>
                          <a:ea typeface="Arial"/>
                          <a:cs typeface="Arial"/>
                        </a:rPr>
                        <a:t>Không</a:t>
                      </a:r>
                    </a:p>
                  </a:txBody>
                  <a:tcPr marL="91440" marR="91440" marT="45720" marB="45720">
                    <a:lnB w="9525">
                      <a:solidFill>
                        <a:srgbClr val="D0D9E1"/>
                      </a:solidFill>
                    </a:lnB>
                    <a:solidFill>
                      <a:srgbClr val="FFFFFF"/>
                    </a:solidFill>
                  </a:tcPr>
                </a:tc>
                <a:tc>
                  <a:txBody>
                    <a:bodyPr/>
                    <a:lstStyle/>
                    <a:p>
                      <a:r>
                        <a:rPr sz="1725">
                          <a:solidFill>
                            <a:srgbClr val="182C40"/>
                          </a:solidFill>
                          <a:latin typeface="Arial"/>
                          <a:ea typeface="Arial"/>
                          <a:cs typeface="Arial"/>
                        </a:rPr>
                        <a:t>Không</a:t>
                      </a:r>
                    </a:p>
                  </a:txBody>
                  <a:tcPr marL="91440" marR="91440" marT="45720" marB="45720">
                    <a:lnB w="9525">
                      <a:solidFill>
                        <a:srgbClr val="D0D9E1"/>
                      </a:solidFill>
                    </a:lnB>
                    <a:solidFill>
                      <a:srgbClr val="FFFFFF"/>
                    </a:solidFill>
                  </a:tcPr>
                </a:tc>
                <a:tc>
                  <a:txBody>
                    <a:bodyPr/>
                    <a:lstStyle/>
                    <a:p>
                      <a:r>
                        <a:rPr sz="1725">
                          <a:solidFill>
                            <a:srgbClr val="182C40"/>
                          </a:solidFill>
                          <a:latin typeface="Arial"/>
                          <a:ea typeface="Arial"/>
                          <a:cs typeface="Arial"/>
                        </a:rPr>
                        <a:t>Có</a:t>
                      </a:r>
                    </a:p>
                  </a:txBody>
                  <a:tcPr marL="91440" marR="91440" marT="45720" marB="45720">
                    <a:lnR w="9525">
                      <a:solidFill>
                        <a:srgbClr val="D0D9E1"/>
                      </a:solidFill>
                    </a:lnR>
                    <a:lnB w="9525">
                      <a:solidFill>
                        <a:srgbClr val="D0D9E1"/>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C68E58A-9AB7-4F04-A8BE-359376279C53}"/>
              </a:ext>
            </a:extLst>
          </p:cNvPr>
          <p:cNvSpPr>
            <a:spLocks xmlns:a="http://schemas.openxmlformats.org/drawingml/2006/main" noGrp="1"/>
          </p:cNvSpPr>
          <p:nvPr/>
        </p:nvSpPr>
        <p:spPr>
          <a:xfrm xmlns:a="http://schemas.openxmlformats.org/drawingml/2006/main">
            <a:off x="523875" y="5524500"/>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 Baseline SecRS §5 còn khác SDD. PC-03 chờ SE và Khánh chốt</a:t>
            </a:r>
          </a:p>
        </p:txBody>
      </p:sp>
      <p:sp>
        <p:nvSpPr>
          <p:cNvPr id="5" name="">
            <a:extLst xmlns:a="http://schemas.openxmlformats.org/drawingml/2006/main">
              <a:ext uri="{FF2B5EF4-FFF2-40B4-BE49-F238E27FC236}">
                <a16:creationId xmlns:a16="http://schemas.microsoft.com/office/drawing/2014/main" id="{010C8E37-1EB1-490B-895E-534D88663BB9}"/>
              </a:ext>
            </a:extLst>
          </p:cNvPr>
          <p:cNvSpPr>
            <a:spLocks xmlns:a="http://schemas.openxmlformats.org/drawingml/2006/main" noGrp="1"/>
          </p:cNvSpPr>
          <p:nvPr/>
        </p:nvSpPr>
        <p:spPr>
          <a:xfrm xmlns:a="http://schemas.openxmlformats.org/drawingml/2006/main">
            <a:off x="523875" y="6191250"/>
            <a:ext cx="1114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2C40"/>
                </a:solidFill>
                <a:latin typeface="Arial"/>
                <a:ea typeface="Arial"/>
                <a:cs typeface="Arial"/>
              </a:defRPr>
            </a:defPPr>
            <a:lvl1pPr>
              <a:defRPr sz="1725" b="0">
                <a:solidFill>
                  <a:srgbClr val="182C40"/>
                </a:solidFill>
                <a:latin typeface="Arial"/>
                <a:ea typeface="Arial"/>
                <a:cs typeface="Arial"/>
              </a:defRPr>
            </a:lvl1pPr>
            <a:lvl2pPr>
              <a:defRPr sz="1725" b="0">
                <a:solidFill>
                  <a:srgbClr val="182C40"/>
                </a:solidFill>
                <a:latin typeface="Arial"/>
                <a:ea typeface="Arial"/>
                <a:cs typeface="Arial"/>
              </a:defRPr>
            </a:lvl2pPr>
            <a:lvl3pPr>
              <a:defRPr sz="1725" b="0">
                <a:solidFill>
                  <a:srgbClr val="182C40"/>
                </a:solidFill>
                <a:latin typeface="Arial"/>
                <a:ea typeface="Arial"/>
                <a:cs typeface="Arial"/>
              </a:defRPr>
            </a:lvl3pPr>
            <a:lvl4pPr>
              <a:defRPr sz="1725" b="0">
                <a:solidFill>
                  <a:srgbClr val="182C40"/>
                </a:solidFill>
                <a:latin typeface="Arial"/>
                <a:ea typeface="Arial"/>
                <a:cs typeface="Arial"/>
              </a:defRPr>
            </a:lvl4pPr>
            <a:lvl5pPr>
              <a:defRPr sz="1725" b="0">
                <a:solidFill>
                  <a:srgbClr val="182C40"/>
                </a:solidFill>
                <a:latin typeface="Arial"/>
                <a:ea typeface="Arial"/>
                <a:cs typeface="Arial"/>
              </a:defRPr>
            </a:lvl5pPr>
            <a:lvl6pPr>
              <a:defRPr sz="1725" b="0">
                <a:solidFill>
                  <a:srgbClr val="182C40"/>
                </a:solidFill>
                <a:latin typeface="Arial"/>
                <a:ea typeface="Arial"/>
                <a:cs typeface="Arial"/>
              </a:defRPr>
            </a:lvl6pPr>
            <a:lvl7pPr>
              <a:defRPr sz="1725" b="0">
                <a:solidFill>
                  <a:srgbClr val="182C40"/>
                </a:solidFill>
                <a:latin typeface="Arial"/>
                <a:ea typeface="Arial"/>
                <a:cs typeface="Arial"/>
              </a:defRPr>
            </a:lvl7pPr>
            <a:lvl8pPr>
              <a:defRPr sz="1725" b="0">
                <a:solidFill>
                  <a:srgbClr val="182C40"/>
                </a:solidFill>
                <a:latin typeface="Arial"/>
                <a:ea typeface="Arial"/>
                <a:cs typeface="Arial"/>
              </a:defRPr>
            </a:lvl8pPr>
            <a:lvl9pPr>
              <a:defRPr sz="1725" b="0">
                <a:solidFill>
                  <a:srgbClr val="182C40"/>
                </a:solidFill>
                <a:latin typeface="Arial"/>
                <a:ea typeface="Arial"/>
                <a:cs typeface="Arial"/>
              </a:defRPr>
            </a:lvl9pPr>
          </a:lstStyle>
          <a:p xmlns:a="http://schemas.openxmlformats.org/drawingml/2006/main">
            <a:pPr>
              <a:defRPr sz="1725" b="0">
                <a:solidFill>
                  <a:srgbClr val="182C40"/>
                </a:solidFill>
                <a:latin typeface="Arial"/>
                <a:ea typeface="Arial"/>
                <a:cs typeface="Arial"/>
              </a:defRPr>
            </a:pPr>
            <a:r>
              <a:rPr sz="1725" b="0">
                <a:solidFill>
                  <a:srgbClr val="182C40"/>
                </a:solidFill>
                <a:latin typeface="Arial"/>
                <a:ea typeface="Arial"/>
                <a:cs typeface="Arial"/>
              </a:rPr>
              <a:t>Kiểm token 401, phạm vi xem 404, quyền thao tác 403, rồi kiểm trạng thái 422</a:t>
            </a:r>
          </a:p>
        </p:txBody>
      </p:sp>
    </p:spTree>
    <p:extLst>
      <p:ext uri="{BB962C8B-B14F-4D97-AF65-F5344CB8AC3E}">
        <p14:creationId xmlns:p14="http://schemas.microsoft.com/office/powerpoint/2010/main" val="15248383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497592E-5526-4505-8E45-1E294F645757}"/>
              </a:ext>
            </a:extLst>
          </p:cNvPr>
          <p:cNvSpPr>
            <a:spLocks xmlns:a="http://schemas.openxmlformats.org/drawingml/2006/main" noGrp="1"/>
          </p:cNvSpPr>
          <p:nvPr/>
        </p:nvSpPr>
        <p:spPr>
          <a:xfrm xmlns:a="http://schemas.openxmlformats.org/drawingml/2006/main">
            <a:off x="552450" y="333375"/>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A5E"/>
                </a:solidFill>
                <a:latin typeface="Arial"/>
                <a:ea typeface="Arial"/>
                <a:cs typeface="Arial"/>
              </a:defRPr>
            </a:defPPr>
            <a:lvl1pPr>
              <a:defRPr sz="3150" b="1">
                <a:solidFill>
                  <a:srgbClr val="173A5E"/>
                </a:solidFill>
                <a:latin typeface="Arial"/>
                <a:ea typeface="Arial"/>
                <a:cs typeface="Arial"/>
              </a:defRPr>
            </a:lvl1pPr>
            <a:lvl2pPr>
              <a:defRPr sz="3150" b="1">
                <a:solidFill>
                  <a:srgbClr val="173A5E"/>
                </a:solidFill>
                <a:latin typeface="Arial"/>
                <a:ea typeface="Arial"/>
                <a:cs typeface="Arial"/>
              </a:defRPr>
            </a:lvl2pPr>
            <a:lvl3pPr>
              <a:defRPr sz="3150" b="1">
                <a:solidFill>
                  <a:srgbClr val="173A5E"/>
                </a:solidFill>
                <a:latin typeface="Arial"/>
                <a:ea typeface="Arial"/>
                <a:cs typeface="Arial"/>
              </a:defRPr>
            </a:lvl3pPr>
            <a:lvl4pPr>
              <a:defRPr sz="3150" b="1">
                <a:solidFill>
                  <a:srgbClr val="173A5E"/>
                </a:solidFill>
                <a:latin typeface="Arial"/>
                <a:ea typeface="Arial"/>
                <a:cs typeface="Arial"/>
              </a:defRPr>
            </a:lvl4pPr>
            <a:lvl5pPr>
              <a:defRPr sz="3150" b="1">
                <a:solidFill>
                  <a:srgbClr val="173A5E"/>
                </a:solidFill>
                <a:latin typeface="Arial"/>
                <a:ea typeface="Arial"/>
                <a:cs typeface="Arial"/>
              </a:defRPr>
            </a:lvl5pPr>
            <a:lvl6pPr>
              <a:defRPr sz="3150" b="1">
                <a:solidFill>
                  <a:srgbClr val="173A5E"/>
                </a:solidFill>
                <a:latin typeface="Arial"/>
                <a:ea typeface="Arial"/>
                <a:cs typeface="Arial"/>
              </a:defRPr>
            </a:lvl6pPr>
            <a:lvl7pPr>
              <a:defRPr sz="3150" b="1">
                <a:solidFill>
                  <a:srgbClr val="173A5E"/>
                </a:solidFill>
                <a:latin typeface="Arial"/>
                <a:ea typeface="Arial"/>
                <a:cs typeface="Arial"/>
              </a:defRPr>
            </a:lvl7pPr>
            <a:lvl8pPr>
              <a:defRPr sz="3150" b="1">
                <a:solidFill>
                  <a:srgbClr val="173A5E"/>
                </a:solidFill>
                <a:latin typeface="Arial"/>
                <a:ea typeface="Arial"/>
                <a:cs typeface="Arial"/>
              </a:defRPr>
            </a:lvl8pPr>
            <a:lvl9pPr>
              <a:defRPr sz="3150" b="1">
                <a:solidFill>
                  <a:srgbClr val="173A5E"/>
                </a:solidFill>
                <a:latin typeface="Arial"/>
                <a:ea typeface="Arial"/>
                <a:cs typeface="Arial"/>
              </a:defRPr>
            </a:lvl9pPr>
          </a:lstStyle>
          <a:p xmlns:a="http://schemas.openxmlformats.org/drawingml/2006/main">
            <a:pPr>
              <a:defRPr sz="3150" b="1">
                <a:solidFill>
                  <a:srgbClr val="173A5E"/>
                </a:solidFill>
                <a:latin typeface="Arial"/>
                <a:ea typeface="Arial"/>
                <a:cs typeface="Arial"/>
              </a:defRPr>
            </a:pPr>
            <a:r>
              <a:rPr sz="3150" b="1">
                <a:solidFill>
                  <a:srgbClr val="173A5E"/>
                </a:solidFill>
                <a:latin typeface="Arial"/>
                <a:ea typeface="Arial"/>
                <a:cs typeface="Arial"/>
              </a:rPr>
              <a:t>Quyết định cần chốt tại Review 1</a:t>
            </a:r>
          </a:p>
        </p:txBody>
      </p:sp>
      <p:graphicFrame>
        <p:nvGraphicFramePr>
          <p:cNvPr id="3" name="">
            <a:extLst xmlns:a="http://schemas.openxmlformats.org/drawingml/2006/main">
              <a:ext uri="{FF2B5EF4-FFF2-40B4-BE49-F238E27FC236}">
                <a16:creationId xmlns:a16="http://schemas.microsoft.com/office/drawing/2014/main" id="{9F80082A-0F3E-4E51-A209-066D6040B6BD}"/>
              </a:ext>
            </a:extLst>
          </p:cNvPr>
          <p:cNvGraphicFramePr/>
          <p:nvPr/>
        </p:nvGraphicFramePr>
        <p:xfrm>
          <a:off xmlns:a="http://schemas.openxmlformats.org/drawingml/2006/main" x="523875" y="1276350"/>
          <a:ext xmlns:a="http://schemas.openxmlformats.org/drawingml/2006/main" cx="11144250" cy="3857625"/>
        </p:xfrm>
        <a:graphic xmlns:a="http://schemas.openxmlformats.org/drawingml/2006/main">
          <a:graphicData uri="http://schemas.openxmlformats.org/drawingml/2006/table">
            <a:tbl>
              <a:tblPr/>
              <a:tblGrid>
                <a:gridCol w="1238250"/>
                <a:gridCol w="6477000"/>
                <a:gridCol w="3429000"/>
              </a:tblGrid>
              <a:tr h="551089">
                <a:tc>
                  <a:txBody>
                    <a:bodyPr/>
                    <a:lstStyle/>
                    <a:p>
                      <a:r>
                        <a:rPr sz="1800" b="1">
                          <a:solidFill>
                            <a:srgbClr val="FFFFFF"/>
                          </a:solidFill>
                          <a:latin typeface="Arial"/>
                          <a:ea typeface="Arial"/>
                          <a:cs typeface="Arial"/>
                        </a:rPr>
                        <a:t>Điểm</a:t>
                      </a:r>
                    </a:p>
                  </a:txBody>
                  <a:tcPr marL="91440" marR="91440" marT="45720" marB="45720">
                    <a:lnL w="9525">
                      <a:solidFill>
                        <a:srgbClr val="D0D9E1"/>
                      </a:solidFill>
                    </a:lnL>
                    <a:lnT w="9525">
                      <a:solidFill>
                        <a:srgbClr val="D0D9E1"/>
                      </a:solidFill>
                    </a:lnT>
                    <a:solidFill>
                      <a:srgbClr val="173A5E"/>
                    </a:solidFill>
                  </a:tcPr>
                </a:tc>
                <a:tc>
                  <a:txBody>
                    <a:bodyPr/>
                    <a:lstStyle/>
                    <a:p>
                      <a:r>
                        <a:rPr sz="1800" b="1">
                          <a:solidFill>
                            <a:srgbClr val="FFFFFF"/>
                          </a:solidFill>
                          <a:latin typeface="Arial"/>
                          <a:ea typeface="Arial"/>
                          <a:cs typeface="Arial"/>
                        </a:rPr>
                        <a:t>Nội dung</a:t>
                      </a:r>
                    </a:p>
                  </a:txBody>
                  <a:tcPr marL="91440" marR="91440" marT="45720" marB="45720">
                    <a:lnT w="9525">
                      <a:solidFill>
                        <a:srgbClr val="D0D9E1"/>
                      </a:solidFill>
                    </a:lnT>
                    <a:solidFill>
                      <a:srgbClr val="173A5E"/>
                    </a:solidFill>
                  </a:tcPr>
                </a:tc>
                <a:tc>
                  <a:txBody>
                    <a:bodyPr/>
                    <a:lstStyle/>
                    <a:p>
                      <a:r>
                        <a:rPr sz="1800" b="1">
                          <a:solidFill>
                            <a:srgbClr val="FFFFFF"/>
                          </a:solidFill>
                          <a:latin typeface="Arial"/>
                          <a:ea typeface="Arial"/>
                          <a:cs typeface="Arial"/>
                        </a:rPr>
                        <a:t>Phối hợp</a:t>
                      </a:r>
                    </a:p>
                  </a:txBody>
                  <a:tcPr marL="91440" marR="91440" marT="45720" marB="45720">
                    <a:lnR w="9525">
                      <a:solidFill>
                        <a:srgbClr val="D0D9E1"/>
                      </a:solidFill>
                    </a:lnR>
                    <a:lnT w="9525">
                      <a:solidFill>
                        <a:srgbClr val="D0D9E1"/>
                      </a:solidFill>
                    </a:lnT>
                    <a:solidFill>
                      <a:srgbClr val="173A5E"/>
                    </a:solidFill>
                  </a:tcPr>
                </a:tc>
              </a:tr>
              <a:tr h="551089">
                <a:tc>
                  <a:txBody>
                    <a:bodyPr/>
                    <a:lstStyle/>
                    <a:p>
                      <a:r>
                        <a:rPr sz="1800">
                          <a:solidFill>
                            <a:srgbClr val="182C40"/>
                          </a:solidFill>
                          <a:latin typeface="Arial"/>
                          <a:ea typeface="Arial"/>
                          <a:cs typeface="Arial"/>
                        </a:rPr>
                        <a:t>PC-01</a:t>
                      </a:r>
                    </a:p>
                  </a:txBody>
                  <a:tcPr marL="91440" marR="91440" marT="45720" marB="45720">
                    <a:lnL w="9525">
                      <a:solidFill>
                        <a:srgbClr val="D0D9E1"/>
                      </a:solidFill>
                    </a:lnL>
                    <a:solidFill>
                      <a:srgbClr val="FFFFFF"/>
                    </a:solidFill>
                  </a:tcPr>
                </a:tc>
                <a:tc>
                  <a:txBody>
                    <a:bodyPr/>
                    <a:lstStyle/>
                    <a:p>
                      <a:r>
                        <a:rPr sz="1800">
                          <a:solidFill>
                            <a:srgbClr val="182C40"/>
                          </a:solidFill>
                          <a:latin typeface="Arial"/>
                          <a:ea typeface="Arial"/>
                          <a:cs typeface="Arial"/>
                        </a:rPr>
                        <a:t>Cơ chế tải tệp, TTL và thu hồi URL</a:t>
                      </a:r>
                    </a:p>
                  </a:txBody>
                  <a:tcPr marL="91440" marR="91440" marT="45720" marB="45720">
                    <a:solidFill>
                      <a:srgbClr val="FFFFFF"/>
                    </a:solidFill>
                  </a:tcPr>
                </a:tc>
                <a:tc>
                  <a:txBody>
                    <a:bodyPr/>
                    <a:lstStyle/>
                    <a:p>
                      <a:r>
                        <a:rPr sz="1800">
                          <a:solidFill>
                            <a:srgbClr val="182C40"/>
                          </a:solidFill>
                          <a:latin typeface="Arial"/>
                          <a:ea typeface="Arial"/>
                          <a:cs typeface="Arial"/>
                        </a:rPr>
                        <a:t>Nhi, Cường/Trí</a:t>
                      </a:r>
                    </a:p>
                  </a:txBody>
                  <a:tcPr marL="91440" marR="91440" marT="45720" marB="45720">
                    <a:lnR w="9525">
                      <a:solidFill>
                        <a:srgbClr val="D0D9E1"/>
                      </a:solidFill>
                    </a:lnR>
                    <a:solidFill>
                      <a:srgbClr val="FFFFFF"/>
                    </a:solidFill>
                  </a:tcPr>
                </a:tc>
              </a:tr>
              <a:tr h="551089">
                <a:tc>
                  <a:txBody>
                    <a:bodyPr/>
                    <a:lstStyle/>
                    <a:p>
                      <a:r>
                        <a:rPr sz="1800">
                          <a:solidFill>
                            <a:srgbClr val="182C40"/>
                          </a:solidFill>
                          <a:latin typeface="Arial"/>
                          <a:ea typeface="Arial"/>
                          <a:cs typeface="Arial"/>
                        </a:rPr>
                        <a:t>PC-02</a:t>
                      </a:r>
                    </a:p>
                  </a:txBody>
                  <a:tcPr marL="91440" marR="91440" marT="45720" marB="45720">
                    <a:lnL w="9525">
                      <a:solidFill>
                        <a:srgbClr val="D0D9E1"/>
                      </a:solidFill>
                    </a:lnL>
                    <a:solidFill>
                      <a:srgbClr val="FFFFFF"/>
                    </a:solidFill>
                  </a:tcPr>
                </a:tc>
                <a:tc>
                  <a:txBody>
                    <a:bodyPr/>
                    <a:lstStyle/>
                    <a:p>
                      <a:r>
                        <a:rPr sz="1800">
                          <a:solidFill>
                            <a:srgbClr val="182C40"/>
                          </a:solidFill>
                          <a:latin typeface="Arial"/>
                          <a:ea typeface="Arial"/>
                          <a:cs typeface="Arial"/>
                        </a:rPr>
                        <a:t>State Reopen và SLA sau mở lại</a:t>
                      </a:r>
                    </a:p>
                  </a:txBody>
                  <a:tcPr marL="91440" marR="91440" marT="45720" marB="45720">
                    <a:solidFill>
                      <a:srgbClr val="FFFFFF"/>
                    </a:solidFill>
                  </a:tcPr>
                </a:tc>
                <a:tc>
                  <a:txBody>
                    <a:bodyPr/>
                    <a:lstStyle/>
                    <a:p>
                      <a:r>
                        <a:rPr sz="1800">
                          <a:solidFill>
                            <a:srgbClr val="182C40"/>
                          </a:solidFill>
                          <a:latin typeface="Arial"/>
                          <a:ea typeface="Arial"/>
                          <a:cs typeface="Arial"/>
                        </a:rPr>
                        <a:t>Trí, Cường, Khánh</a:t>
                      </a:r>
                    </a:p>
                  </a:txBody>
                  <a:tcPr marL="91440" marR="91440" marT="45720" marB="45720">
                    <a:lnR w="9525">
                      <a:solidFill>
                        <a:srgbClr val="D0D9E1"/>
                      </a:solidFill>
                    </a:lnR>
                    <a:solidFill>
                      <a:srgbClr val="FFFFFF"/>
                    </a:solidFill>
                  </a:tcPr>
                </a:tc>
              </a:tr>
              <a:tr h="551089">
                <a:tc>
                  <a:txBody>
                    <a:bodyPr/>
                    <a:lstStyle/>
                    <a:p>
                      <a:r>
                        <a:rPr sz="1800">
                          <a:solidFill>
                            <a:srgbClr val="182C40"/>
                          </a:solidFill>
                          <a:latin typeface="Arial"/>
                          <a:ea typeface="Arial"/>
                          <a:cs typeface="Arial"/>
                        </a:rPr>
                        <a:t>PC-03</a:t>
                      </a:r>
                    </a:p>
                  </a:txBody>
                  <a:tcPr marL="91440" marR="91440" marT="45720" marB="45720">
                    <a:lnL w="9525">
                      <a:solidFill>
                        <a:srgbClr val="D0D9E1"/>
                      </a:solidFill>
                    </a:lnL>
                    <a:solidFill>
                      <a:srgbClr val="FFFFFF"/>
                    </a:solidFill>
                  </a:tcPr>
                </a:tc>
                <a:tc>
                  <a:txBody>
                    <a:bodyPr/>
                    <a:lstStyle/>
                    <a:p>
                      <a:r>
                        <a:rPr sz="1800">
                          <a:solidFill>
                            <a:srgbClr val="182C40"/>
                          </a:solidFill>
                          <a:latin typeface="Arial"/>
                          <a:ea typeface="Arial"/>
                          <a:cs typeface="Arial"/>
                        </a:rPr>
                        <a:t>Quyền, mã lỗi và ghi chú nội bộ</a:t>
                      </a:r>
                    </a:p>
                  </a:txBody>
                  <a:tcPr marL="91440" marR="91440" marT="45720" marB="45720">
                    <a:solidFill>
                      <a:srgbClr val="FFFFFF"/>
                    </a:solidFill>
                  </a:tcPr>
                </a:tc>
                <a:tc>
                  <a:txBody>
                    <a:bodyPr/>
                    <a:lstStyle/>
                    <a:p>
                      <a:r>
                        <a:rPr sz="1800">
                          <a:solidFill>
                            <a:srgbClr val="182C40"/>
                          </a:solidFill>
                          <a:latin typeface="Arial"/>
                          <a:ea typeface="Arial"/>
                          <a:cs typeface="Arial"/>
                        </a:rPr>
                        <a:t>Khánh, Cường/Trí</a:t>
                      </a:r>
                    </a:p>
                  </a:txBody>
                  <a:tcPr marL="91440" marR="91440" marT="45720" marB="45720">
                    <a:lnR w="9525">
                      <a:solidFill>
                        <a:srgbClr val="D0D9E1"/>
                      </a:solidFill>
                    </a:lnR>
                    <a:solidFill>
                      <a:srgbClr val="FFFFFF"/>
                    </a:solidFill>
                  </a:tcPr>
                </a:tc>
              </a:tr>
              <a:tr h="551089">
                <a:tc>
                  <a:txBody>
                    <a:bodyPr/>
                    <a:lstStyle/>
                    <a:p>
                      <a:r>
                        <a:rPr sz="1800">
                          <a:solidFill>
                            <a:srgbClr val="182C40"/>
                          </a:solidFill>
                          <a:latin typeface="Arial"/>
                          <a:ea typeface="Arial"/>
                          <a:cs typeface="Arial"/>
                        </a:rPr>
                        <a:t>PC-04</a:t>
                      </a:r>
                    </a:p>
                  </a:txBody>
                  <a:tcPr marL="91440" marR="91440" marT="45720" marB="45720">
                    <a:lnL w="9525">
                      <a:solidFill>
                        <a:srgbClr val="D0D9E1"/>
                      </a:solidFill>
                    </a:lnL>
                    <a:solidFill>
                      <a:srgbClr val="FFFFFF"/>
                    </a:solidFill>
                  </a:tcPr>
                </a:tc>
                <a:tc>
                  <a:txBody>
                    <a:bodyPr/>
                    <a:lstStyle/>
                    <a:p>
                      <a:r>
                        <a:rPr sz="1800">
                          <a:solidFill>
                            <a:srgbClr val="182C40"/>
                          </a:solidFill>
                          <a:latin typeface="Arial"/>
                          <a:ea typeface="Arial"/>
                          <a:cs typeface="Arial"/>
                        </a:rPr>
                        <a:t>Schema log, rule, tool và retention</a:t>
                      </a:r>
                    </a:p>
                  </a:txBody>
                  <a:tcPr marL="91440" marR="91440" marT="45720" marB="45720">
                    <a:solidFill>
                      <a:srgbClr val="FFFFFF"/>
                    </a:solidFill>
                  </a:tcPr>
                </a:tc>
                <a:tc>
                  <a:txBody>
                    <a:bodyPr/>
                    <a:lstStyle/>
                    <a:p>
                      <a:r>
                        <a:rPr sz="1800">
                          <a:solidFill>
                            <a:srgbClr val="182C40"/>
                          </a:solidFill>
                          <a:latin typeface="Arial"/>
                          <a:ea typeface="Arial"/>
                          <a:cs typeface="Arial"/>
                        </a:rPr>
                        <a:t>Hoà, Backend, Nhi</a:t>
                      </a:r>
                    </a:p>
                  </a:txBody>
                  <a:tcPr marL="91440" marR="91440" marT="45720" marB="45720">
                    <a:lnR w="9525">
                      <a:solidFill>
                        <a:srgbClr val="D0D9E1"/>
                      </a:solidFill>
                    </a:lnR>
                    <a:solidFill>
                      <a:srgbClr val="FFFFFF"/>
                    </a:solidFill>
                  </a:tcPr>
                </a:tc>
              </a:tr>
              <a:tr h="551089">
                <a:tc>
                  <a:txBody>
                    <a:bodyPr/>
                    <a:lstStyle/>
                    <a:p>
                      <a:r>
                        <a:rPr sz="1800">
                          <a:solidFill>
                            <a:srgbClr val="182C40"/>
                          </a:solidFill>
                          <a:latin typeface="Arial"/>
                          <a:ea typeface="Arial"/>
                          <a:cs typeface="Arial"/>
                        </a:rPr>
                        <a:t>PC-05</a:t>
                      </a:r>
                    </a:p>
                  </a:txBody>
                  <a:tcPr marL="91440" marR="91440" marT="45720" marB="45720">
                    <a:lnL w="9525">
                      <a:solidFill>
                        <a:srgbClr val="D0D9E1"/>
                      </a:solidFill>
                    </a:lnL>
                    <a:solidFill>
                      <a:srgbClr val="FFFFFF"/>
                    </a:solidFill>
                  </a:tcPr>
                </a:tc>
                <a:tc>
                  <a:txBody>
                    <a:bodyPr/>
                    <a:lstStyle/>
                    <a:p>
                      <a:r>
                        <a:rPr sz="1800">
                          <a:solidFill>
                            <a:srgbClr val="182C40"/>
                          </a:solidFill>
                          <a:latin typeface="Arial"/>
                          <a:ea typeface="Arial"/>
                          <a:cs typeface="Arial"/>
                        </a:rPr>
                        <a:t>Mạng, TLS, ports, volume và backup</a:t>
                      </a:r>
                    </a:p>
                  </a:txBody>
                  <a:tcPr marL="91440" marR="91440" marT="45720" marB="45720">
                    <a:solidFill>
                      <a:srgbClr val="FFFFFF"/>
                    </a:solidFill>
                  </a:tcPr>
                </a:tc>
                <a:tc>
                  <a:txBody>
                    <a:bodyPr/>
                    <a:lstStyle/>
                    <a:p>
                      <a:r>
                        <a:rPr sz="1800">
                          <a:solidFill>
                            <a:srgbClr val="182C40"/>
                          </a:solidFill>
                          <a:latin typeface="Arial"/>
                          <a:ea typeface="Arial"/>
                          <a:cs typeface="Arial"/>
                        </a:rPr>
                        <a:t>Nhi, Chính, Trí</a:t>
                      </a:r>
                    </a:p>
                  </a:txBody>
                  <a:tcPr marL="91440" marR="91440" marT="45720" marB="45720">
                    <a:lnR w="9525">
                      <a:solidFill>
                        <a:srgbClr val="D0D9E1"/>
                      </a:solidFill>
                    </a:lnR>
                    <a:solidFill>
                      <a:srgbClr val="FFFFFF"/>
                    </a:solidFill>
                  </a:tcPr>
                </a:tc>
              </a:tr>
              <a:tr h="551089">
                <a:tc>
                  <a:txBody>
                    <a:bodyPr/>
                    <a:lstStyle/>
                    <a:p>
                      <a:r>
                        <a:rPr sz="1800">
                          <a:solidFill>
                            <a:srgbClr val="182C40"/>
                          </a:solidFill>
                          <a:latin typeface="Arial"/>
                          <a:ea typeface="Arial"/>
                          <a:cs typeface="Arial"/>
                        </a:rPr>
                        <a:t>PC-06</a:t>
                      </a:r>
                    </a:p>
                  </a:txBody>
                  <a:tcPr marL="91440" marR="91440" marT="45720" marB="45720">
                    <a:lnL w="9525">
                      <a:solidFill>
                        <a:srgbClr val="D0D9E1"/>
                      </a:solidFill>
                    </a:lnL>
                    <a:lnB w="9525">
                      <a:solidFill>
                        <a:srgbClr val="D0D9E1"/>
                      </a:solidFill>
                    </a:lnB>
                    <a:solidFill>
                      <a:srgbClr val="FFFFFF"/>
                    </a:solidFill>
                  </a:tcPr>
                </a:tc>
                <a:tc>
                  <a:txBody>
                    <a:bodyPr/>
                    <a:lstStyle/>
                    <a:p>
                      <a:r>
                        <a:rPr sz="1800">
                          <a:solidFill>
                            <a:srgbClr val="182C40"/>
                          </a:solidFill>
                          <a:latin typeface="Arial"/>
                          <a:ea typeface="Arial"/>
                          <a:cs typeface="Arial"/>
                        </a:rPr>
                        <a:t>SE review các tham chiếu NFR/test đã sửa</a:t>
                      </a:r>
                    </a:p>
                  </a:txBody>
                  <a:tcPr marL="91440" marR="91440" marT="45720" marB="45720">
                    <a:lnB w="9525">
                      <a:solidFill>
                        <a:srgbClr val="D0D9E1"/>
                      </a:solidFill>
                    </a:lnB>
                    <a:solidFill>
                      <a:srgbClr val="FFFFFF"/>
                    </a:solidFill>
                  </a:tcPr>
                </a:tc>
                <a:tc>
                  <a:txBody>
                    <a:bodyPr/>
                    <a:lstStyle/>
                    <a:p>
                      <a:r>
                        <a:rPr sz="1800">
                          <a:solidFill>
                            <a:srgbClr val="182C40"/>
                          </a:solidFill>
                          <a:latin typeface="Arial"/>
                          <a:ea typeface="Arial"/>
                          <a:cs typeface="Arial"/>
                        </a:rPr>
                        <a:t>Chính, Cường/Trí</a:t>
                      </a:r>
                    </a:p>
                  </a:txBody>
                  <a:tcPr marL="91440" marR="91440" marT="45720" marB="45720">
                    <a:lnR w="9525">
                      <a:solidFill>
                        <a:srgbClr val="D0D9E1"/>
                      </a:solidFill>
                    </a:lnR>
                    <a:lnB w="9525">
                      <a:solidFill>
                        <a:srgbClr val="D0D9E1"/>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03A13C-FF9B-4F5E-829B-CBE51957D914}"/>
              </a:ext>
            </a:extLst>
          </p:cNvPr>
          <p:cNvSpPr>
            <a:spLocks xmlns:a="http://schemas.openxmlformats.org/drawingml/2006/main" noGrp="1"/>
          </p:cNvSpPr>
          <p:nvPr/>
        </p:nvSpPr>
        <p:spPr>
          <a:xfrm xmlns:a="http://schemas.openxmlformats.org/drawingml/2006/main">
            <a:off x="523875" y="5429250"/>
            <a:ext cx="1114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C"/>
                </a:solidFill>
                <a:latin typeface="Arial"/>
                <a:ea typeface="Arial"/>
                <a:cs typeface="Arial"/>
              </a:defRPr>
            </a:defPPr>
            <a:lvl1pPr>
              <a:defRPr sz="2025" b="1">
                <a:solidFill>
                  <a:srgbClr val="087F8C"/>
                </a:solidFill>
                <a:latin typeface="Arial"/>
                <a:ea typeface="Arial"/>
                <a:cs typeface="Arial"/>
              </a:defRPr>
            </a:lvl1pPr>
            <a:lvl2pPr>
              <a:defRPr sz="2025" b="1">
                <a:solidFill>
                  <a:srgbClr val="087F8C"/>
                </a:solidFill>
                <a:latin typeface="Arial"/>
                <a:ea typeface="Arial"/>
                <a:cs typeface="Arial"/>
              </a:defRPr>
            </a:lvl2pPr>
            <a:lvl3pPr>
              <a:defRPr sz="2025" b="1">
                <a:solidFill>
                  <a:srgbClr val="087F8C"/>
                </a:solidFill>
                <a:latin typeface="Arial"/>
                <a:ea typeface="Arial"/>
                <a:cs typeface="Arial"/>
              </a:defRPr>
            </a:lvl3pPr>
            <a:lvl4pPr>
              <a:defRPr sz="2025" b="1">
                <a:solidFill>
                  <a:srgbClr val="087F8C"/>
                </a:solidFill>
                <a:latin typeface="Arial"/>
                <a:ea typeface="Arial"/>
                <a:cs typeface="Arial"/>
              </a:defRPr>
            </a:lvl4pPr>
            <a:lvl5pPr>
              <a:defRPr sz="2025" b="1">
                <a:solidFill>
                  <a:srgbClr val="087F8C"/>
                </a:solidFill>
                <a:latin typeface="Arial"/>
                <a:ea typeface="Arial"/>
                <a:cs typeface="Arial"/>
              </a:defRPr>
            </a:lvl5pPr>
            <a:lvl6pPr>
              <a:defRPr sz="2025" b="1">
                <a:solidFill>
                  <a:srgbClr val="087F8C"/>
                </a:solidFill>
                <a:latin typeface="Arial"/>
                <a:ea typeface="Arial"/>
                <a:cs typeface="Arial"/>
              </a:defRPr>
            </a:lvl6pPr>
            <a:lvl7pPr>
              <a:defRPr sz="2025" b="1">
                <a:solidFill>
                  <a:srgbClr val="087F8C"/>
                </a:solidFill>
                <a:latin typeface="Arial"/>
                <a:ea typeface="Arial"/>
                <a:cs typeface="Arial"/>
              </a:defRPr>
            </a:lvl7pPr>
            <a:lvl8pPr>
              <a:defRPr sz="2025" b="1">
                <a:solidFill>
                  <a:srgbClr val="087F8C"/>
                </a:solidFill>
                <a:latin typeface="Arial"/>
                <a:ea typeface="Arial"/>
                <a:cs typeface="Arial"/>
              </a:defRPr>
            </a:lvl8pPr>
            <a:lvl9pPr>
              <a:defRPr sz="2025" b="1">
                <a:solidFill>
                  <a:srgbClr val="087F8C"/>
                </a:solidFill>
                <a:latin typeface="Arial"/>
                <a:ea typeface="Arial"/>
                <a:cs typeface="Arial"/>
              </a:defRPr>
            </a:lvl9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GV góp ý và xác nhận phạm vi. Nhóm ghi quyết định, owner và hạn vào file 08</a:t>
            </a:r>
          </a:p>
        </p:txBody>
      </p:sp>
      <p:sp>
        <p:nvSpPr>
          <p:cNvPr id="5" name="">
            <a:extLst xmlns:a="http://schemas.openxmlformats.org/drawingml/2006/main">
              <a:ext uri="{FF2B5EF4-FFF2-40B4-BE49-F238E27FC236}">
                <a16:creationId xmlns:a16="http://schemas.microsoft.com/office/drawing/2014/main" id="{700D34D0-8770-42B8-A7EF-56D9898DB3B5}"/>
              </a:ext>
            </a:extLst>
          </p:cNvPr>
          <p:cNvSpPr>
            <a:spLocks xmlns:a="http://schemas.openxmlformats.org/drawingml/2006/main" noGrp="1"/>
          </p:cNvSpPr>
          <p:nvPr/>
        </p:nvSpPr>
        <p:spPr>
          <a:xfrm xmlns:a="http://schemas.openxmlformats.org/drawingml/2006/main">
            <a:off x="523875" y="6267450"/>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2C40"/>
                </a:solidFill>
                <a:latin typeface="Arial"/>
                <a:ea typeface="Arial"/>
                <a:cs typeface="Arial"/>
              </a:defRPr>
            </a:defPPr>
            <a:lvl1pPr>
              <a:defRPr sz="1800" b="0">
                <a:solidFill>
                  <a:srgbClr val="182C40"/>
                </a:solidFill>
                <a:latin typeface="Arial"/>
                <a:ea typeface="Arial"/>
                <a:cs typeface="Arial"/>
              </a:defRPr>
            </a:lvl1pPr>
            <a:lvl2pPr>
              <a:defRPr sz="1800" b="0">
                <a:solidFill>
                  <a:srgbClr val="182C40"/>
                </a:solidFill>
                <a:latin typeface="Arial"/>
                <a:ea typeface="Arial"/>
                <a:cs typeface="Arial"/>
              </a:defRPr>
            </a:lvl2pPr>
            <a:lvl3pPr>
              <a:defRPr sz="1800" b="0">
                <a:solidFill>
                  <a:srgbClr val="182C40"/>
                </a:solidFill>
                <a:latin typeface="Arial"/>
                <a:ea typeface="Arial"/>
                <a:cs typeface="Arial"/>
              </a:defRPr>
            </a:lvl3pPr>
            <a:lvl4pPr>
              <a:defRPr sz="1800" b="0">
                <a:solidFill>
                  <a:srgbClr val="182C40"/>
                </a:solidFill>
                <a:latin typeface="Arial"/>
                <a:ea typeface="Arial"/>
                <a:cs typeface="Arial"/>
              </a:defRPr>
            </a:lvl4pPr>
            <a:lvl5pPr>
              <a:defRPr sz="1800" b="0">
                <a:solidFill>
                  <a:srgbClr val="182C40"/>
                </a:solidFill>
                <a:latin typeface="Arial"/>
                <a:ea typeface="Arial"/>
                <a:cs typeface="Arial"/>
              </a:defRPr>
            </a:lvl5pPr>
            <a:lvl6pPr>
              <a:defRPr sz="1800" b="0">
                <a:solidFill>
                  <a:srgbClr val="182C40"/>
                </a:solidFill>
                <a:latin typeface="Arial"/>
                <a:ea typeface="Arial"/>
                <a:cs typeface="Arial"/>
              </a:defRPr>
            </a:lvl6pPr>
            <a:lvl7pPr>
              <a:defRPr sz="1800" b="0">
                <a:solidFill>
                  <a:srgbClr val="182C40"/>
                </a:solidFill>
                <a:latin typeface="Arial"/>
                <a:ea typeface="Arial"/>
                <a:cs typeface="Arial"/>
              </a:defRPr>
            </a:lvl7pPr>
            <a:lvl8pPr>
              <a:defRPr sz="1800" b="0">
                <a:solidFill>
                  <a:srgbClr val="182C40"/>
                </a:solidFill>
                <a:latin typeface="Arial"/>
                <a:ea typeface="Arial"/>
                <a:cs typeface="Arial"/>
              </a:defRPr>
            </a:lvl8pPr>
            <a:lvl9pPr>
              <a:defRPr sz="1800" b="0">
                <a:solidFill>
                  <a:srgbClr val="182C40"/>
                </a:solidFill>
                <a:latin typeface="Arial"/>
                <a:ea typeface="Arial"/>
                <a:cs typeface="Arial"/>
              </a:defRPr>
            </a:lvl9pPr>
          </a:lstStyle>
          <a:p xmlns:a="http://schemas.openxmlformats.org/drawingml/2006/main">
            <a:pPr>
              <a:defRPr sz="1800" b="0">
                <a:solidFill>
                  <a:srgbClr val="182C40"/>
                </a:solidFill>
                <a:latin typeface="Arial"/>
                <a:ea typeface="Arial"/>
                <a:cs typeface="Arial"/>
              </a:defRPr>
            </a:pPr>
            <a:r>
              <a:rPr sz="1800" b="0">
                <a:solidFill>
                  <a:srgbClr val="182C40"/>
                </a:solidFill>
                <a:latin typeface="Arial"/>
                <a:ea typeface="Arial"/>
                <a:cs typeface="Arial"/>
              </a:rPr>
              <a:t>Chỉ chuyển Done khi đủ đầu ra và có xác nhận review thực tế</a:t>
            </a:r>
          </a:p>
        </p:txBody>
      </p:sp>
    </p:spTree>
    <p:extLst>
      <p:ext uri="{BB962C8B-B14F-4D97-AF65-F5344CB8AC3E}">
        <p14:creationId xmlns:p14="http://schemas.microsoft.com/office/powerpoint/2010/main" val="11971707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2026-10-29T10:57:35.3500000Z</dcterms:created>
  <dcterms:modified xsi:type="dcterms:W3CDTF">2026-10-29T10:57:35.3500000Z</dcterms:modified>
</coreProperties>
</file>